
<file path=[Content_Types].xml><?xml version="1.0" encoding="utf-8"?>
<Types xmlns="http://schemas.openxmlformats.org/package/2006/content-types">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6" d="100"/>
          <a:sy n="126" d="100"/>
        </p:scale>
        <p:origin x="58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92508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Sales message: we are not pitching a catalog replacement. We are pitching a delivery and engineering layer that turns existing manual lineage and DataHub/current catalog investments into a maintained, evidence-backed capability. The terms DataHub/current catalog should be adjusted to the client's final platform decision.
[Sources]
- User-provided Santander CIO request in this conversation; user-provided EXL and Lloyds screenshots used only as conceptual learning, not reproduced in the deck.
[/Sources]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turns the client's AI question into a controlled engineering pattern. It deliberately separates deterministic evidence extraction from AI-assisted candidate generation. It avoids claiming that AI alone creates audit-ready lineage. Published lineage requires technical evidence and owner approval.
[Sources]
- User-provided EXL screenshots: system-agnostic semantic layer; enterprise data lineage agent; product roadmap. User-provided Santander CIO request in this conversation.
[/Sources]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pilot is intentionally small enough to prove and measure. It should include at least one difficult transformation or manual adjustment so the client can see where deterministic extraction ends and AI-assisted review begins. This slide uses an illustrative trace, not a Santander production metric.
[Sources]
- User-provided Santander CIO request in this conversation; delivery scope based on prior discussion: one report section, 20-30 CDEs, two countries + HQ aggregation, one complex transformation/manual adjustment.
[/Sources]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generalises learnings from the Lloyds BCBS239 screenshots without reusing proprietary content. The key learning is that lineage must be owned and maintained through producer/consumer responsibilities, change impact, data quality controls, governance forums and a definition of done.
[Sources]
- User-provided Lloyds screenshots: BCBS239 Federation, Collibra Assets Federation, Producer/Consumer Model, Governance and Reporting, Definition of Done. These screenshots are not reproduced; only conceptual learnings are generalised.
[/Sources]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0E8F8A"/>
          </a:solidFill>
          <a:ln w="12700">
            <a:solidFill>
              <a:srgbClr val="0E8F8A"/>
            </a:solidFill>
            <a:prstDash val="solid"/>
          </a:ln>
        </p:spPr>
        <p:txBody>
          <a:bodyPr/>
          <a:lstStyle/>
          <a:p>
            <a:endParaRPr lang="en-US"/>
          </a:p>
        </p:txBody>
      </p:sp>
      <p:sp>
        <p:nvSpPr>
          <p:cNvPr id="3" name="Text 1"/>
          <p:cNvSpPr/>
          <p:nvPr/>
        </p:nvSpPr>
        <p:spPr>
          <a:xfrm>
            <a:off x="502920" y="320040"/>
            <a:ext cx="6858000" cy="182880"/>
          </a:xfrm>
          <a:prstGeom prst="rect">
            <a:avLst/>
          </a:prstGeom>
          <a:noFill/>
          <a:ln/>
        </p:spPr>
        <p:txBody>
          <a:bodyPr wrap="square" lIns="0" tIns="0" rIns="0" bIns="0" rtlCol="0" anchor="ctr">
            <a:normAutofit/>
          </a:bodyPr>
          <a:lstStyle/>
          <a:p>
            <a:pPr marL="0" indent="0">
              <a:buNone/>
            </a:pPr>
            <a:r>
              <a:rPr lang="en-US" sz="870" b="1" kern="0" spc="170" dirty="0">
                <a:solidFill>
                  <a:srgbClr val="0E8F8A"/>
                </a:solidFill>
                <a:latin typeface="Aptos" pitchFamily="34" charset="0"/>
                <a:ea typeface="Aptos" pitchFamily="34" charset="-122"/>
                <a:cs typeface="Aptos" pitchFamily="34" charset="-120"/>
              </a:rPr>
              <a:t>01 / POSITIONING</a:t>
            </a:r>
            <a:endParaRPr lang="en-US" sz="870" dirty="0"/>
          </a:p>
        </p:txBody>
      </p:sp>
      <p:sp>
        <p:nvSpPr>
          <p:cNvPr id="4" name="Text 2"/>
          <p:cNvSpPr/>
          <p:nvPr/>
        </p:nvSpPr>
        <p:spPr>
          <a:xfrm>
            <a:off x="502920" y="621792"/>
            <a:ext cx="8869680" cy="502920"/>
          </a:xfrm>
          <a:prstGeom prst="rect">
            <a:avLst/>
          </a:prstGeom>
          <a:noFill/>
          <a:ln/>
        </p:spPr>
        <p:txBody>
          <a:bodyPr wrap="square" lIns="0" tIns="0" rIns="0" bIns="0" rtlCol="0" anchor="ctr">
            <a:normAutofit/>
          </a:bodyPr>
          <a:lstStyle/>
          <a:p>
            <a:pPr marL="0" indent="0">
              <a:buNone/>
            </a:pPr>
            <a:r>
              <a:rPr lang="en-US" sz="2500" b="1" dirty="0">
                <a:solidFill>
                  <a:srgbClr val="0C2B3A"/>
                </a:solidFill>
                <a:latin typeface="Aptos Display" pitchFamily="34" charset="0"/>
                <a:ea typeface="Aptos Display" pitchFamily="34" charset="-122"/>
                <a:cs typeface="Aptos Display" pitchFamily="34" charset="-120"/>
              </a:rPr>
              <a:t>Industrialise regulatory lineage — without replacing your existing catalog</a:t>
            </a:r>
            <a:endParaRPr lang="en-US" sz="2500" dirty="0"/>
          </a:p>
        </p:txBody>
      </p:sp>
      <p:sp>
        <p:nvSpPr>
          <p:cNvPr id="5" name="Text 3"/>
          <p:cNvSpPr/>
          <p:nvPr/>
        </p:nvSpPr>
        <p:spPr>
          <a:xfrm>
            <a:off x="502920" y="1170432"/>
            <a:ext cx="10789920" cy="338328"/>
          </a:xfrm>
          <a:prstGeom prst="rect">
            <a:avLst/>
          </a:prstGeom>
          <a:noFill/>
          <a:ln/>
        </p:spPr>
        <p:txBody>
          <a:bodyPr wrap="square" lIns="0" tIns="0" rIns="0" bIns="0" rtlCol="0" anchor="t">
            <a:normAutofit/>
          </a:bodyPr>
          <a:lstStyle/>
          <a:p>
            <a:pPr marL="0" indent="0">
              <a:buNone/>
            </a:pPr>
            <a:r>
              <a:rPr lang="en-US" sz="1210" dirty="0">
                <a:solidFill>
                  <a:srgbClr val="617481"/>
                </a:solidFill>
                <a:latin typeface="Aptos" pitchFamily="34" charset="0"/>
                <a:ea typeface="Aptos" pitchFamily="34" charset="-122"/>
                <a:cs typeface="Aptos" pitchFamily="34" charset="-120"/>
              </a:rPr>
              <a:t>Move from manually maintained BCBS239 documentation to maintained, evidence-backed table and field-level traceability across reports, countries and HQ aggregation.</a:t>
            </a:r>
            <a:endParaRPr lang="en-US" sz="1210" dirty="0"/>
          </a:p>
        </p:txBody>
      </p:sp>
      <p:sp>
        <p:nvSpPr>
          <p:cNvPr id="6" name="Text 4"/>
          <p:cNvSpPr/>
          <p:nvPr/>
        </p:nvSpPr>
        <p:spPr>
          <a:xfrm>
            <a:off x="502920" y="6528816"/>
            <a:ext cx="5394960" cy="146304"/>
          </a:xfrm>
          <a:prstGeom prst="rect">
            <a:avLst/>
          </a:prstGeom>
          <a:noFill/>
          <a:ln/>
        </p:spPr>
        <p:txBody>
          <a:bodyPr wrap="square" lIns="0" tIns="0" rIns="0" bIns="0" rtlCol="0" anchor="ctr">
            <a:normAutofit/>
          </a:bodyPr>
          <a:lstStyle/>
          <a:p>
            <a:pPr marL="0" indent="0">
              <a:buNone/>
            </a:pPr>
            <a:r>
              <a:rPr lang="en-US" sz="750" dirty="0">
                <a:solidFill>
                  <a:srgbClr val="7B8B94"/>
                </a:solidFill>
                <a:latin typeface="Aptos" pitchFamily="34" charset="0"/>
                <a:ea typeface="Aptos" pitchFamily="34" charset="-122"/>
                <a:cs typeface="Aptos" pitchFamily="34" charset="-120"/>
              </a:rPr>
              <a:t>BCBS239 LINEAGE INDUSTRIALISATION  |  DISCUSSION PROPOSAL</a:t>
            </a:r>
            <a:endParaRPr lang="en-US" sz="750" dirty="0"/>
          </a:p>
        </p:txBody>
      </p:sp>
      <p:sp>
        <p:nvSpPr>
          <p:cNvPr id="7" name="Text 5"/>
          <p:cNvSpPr/>
          <p:nvPr/>
        </p:nvSpPr>
        <p:spPr>
          <a:xfrm>
            <a:off x="11384280" y="6510528"/>
            <a:ext cx="274320" cy="164592"/>
          </a:xfrm>
          <a:prstGeom prst="rect">
            <a:avLst/>
          </a:prstGeom>
          <a:noFill/>
          <a:ln/>
        </p:spPr>
        <p:txBody>
          <a:bodyPr wrap="square" lIns="0" tIns="0" rIns="0" bIns="0" rtlCol="0" anchor="ctr">
            <a:normAutofit/>
          </a:bodyPr>
          <a:lstStyle/>
          <a:p>
            <a:pPr marL="0" indent="0" algn="r">
              <a:buNone/>
            </a:pPr>
            <a:r>
              <a:rPr lang="en-US" sz="800" b="1" dirty="0">
                <a:solidFill>
                  <a:srgbClr val="0E8F8A"/>
                </a:solidFill>
                <a:latin typeface="Aptos" pitchFamily="34" charset="0"/>
                <a:ea typeface="Aptos" pitchFamily="34" charset="-122"/>
                <a:cs typeface="Aptos" pitchFamily="34" charset="-120"/>
              </a:rPr>
              <a:t>01</a:t>
            </a:r>
            <a:endParaRPr lang="en-US" sz="800" dirty="0"/>
          </a:p>
        </p:txBody>
      </p:sp>
      <p:sp>
        <p:nvSpPr>
          <p:cNvPr id="8" name="Shape 6"/>
          <p:cNvSpPr/>
          <p:nvPr/>
        </p:nvSpPr>
        <p:spPr>
          <a:xfrm>
            <a:off x="502920" y="1783080"/>
            <a:ext cx="3291840" cy="2788920"/>
          </a:xfrm>
          <a:prstGeom prst="roundRect">
            <a:avLst>
              <a:gd name="adj" fmla="val 2623"/>
            </a:avLst>
          </a:prstGeom>
          <a:solidFill>
            <a:srgbClr val="FFFFFF"/>
          </a:solidFill>
          <a:ln w="10160">
            <a:solidFill>
              <a:srgbClr val="D8E4EA"/>
            </a:solidFill>
            <a:prstDash val="solid"/>
          </a:ln>
          <a:effectLst>
            <a:outerShdw blurRad="16510" dist="7620" dir="2700000" algn="bl" rotWithShape="0">
              <a:srgbClr val="0C2B3A">
                <a:alpha val="12000"/>
              </a:srgbClr>
            </a:outerShdw>
          </a:effectLst>
        </p:spPr>
        <p:txBody>
          <a:bodyPr/>
          <a:lstStyle/>
          <a:p>
            <a:endParaRPr lang="en-US"/>
          </a:p>
        </p:txBody>
      </p:sp>
      <p:sp>
        <p:nvSpPr>
          <p:cNvPr id="9" name="Text 7"/>
          <p:cNvSpPr/>
          <p:nvPr/>
        </p:nvSpPr>
        <p:spPr>
          <a:xfrm>
            <a:off x="749808" y="2011680"/>
            <a:ext cx="2560320" cy="182880"/>
          </a:xfrm>
          <a:prstGeom prst="rect">
            <a:avLst/>
          </a:prstGeom>
          <a:noFill/>
          <a:ln/>
        </p:spPr>
        <p:txBody>
          <a:bodyPr wrap="square" lIns="0" tIns="0" rIns="0" bIns="0" rtlCol="0" anchor="ctr">
            <a:normAutofit/>
          </a:bodyPr>
          <a:lstStyle/>
          <a:p>
            <a:pPr marL="0" indent="0">
              <a:buNone/>
            </a:pPr>
            <a:r>
              <a:rPr lang="en-US" sz="870" b="1" kern="0" spc="170" dirty="0">
                <a:solidFill>
                  <a:srgbClr val="B85A4A"/>
                </a:solidFill>
                <a:latin typeface="Aptos" pitchFamily="34" charset="0"/>
                <a:ea typeface="Aptos" pitchFamily="34" charset="-122"/>
                <a:cs typeface="Aptos" pitchFamily="34" charset="-120"/>
              </a:rPr>
              <a:t>TODAY</a:t>
            </a:r>
            <a:endParaRPr lang="en-US" sz="870" dirty="0"/>
          </a:p>
        </p:txBody>
      </p:sp>
      <p:sp>
        <p:nvSpPr>
          <p:cNvPr id="10" name="Text 8"/>
          <p:cNvSpPr/>
          <p:nvPr/>
        </p:nvSpPr>
        <p:spPr>
          <a:xfrm>
            <a:off x="749808" y="2331720"/>
            <a:ext cx="2697480" cy="530352"/>
          </a:xfrm>
          <a:prstGeom prst="rect">
            <a:avLst/>
          </a:prstGeom>
          <a:noFill/>
          <a:ln/>
        </p:spPr>
        <p:txBody>
          <a:bodyPr wrap="square" lIns="0" tIns="0" rIns="0" bIns="0" rtlCol="0" anchor="ctr">
            <a:normAutofit/>
          </a:bodyPr>
          <a:lstStyle/>
          <a:p>
            <a:pPr marL="0" indent="0">
              <a:buNone/>
            </a:pPr>
            <a:r>
              <a:rPr lang="en-US" sz="1900" b="1" dirty="0">
                <a:solidFill>
                  <a:srgbClr val="0C2B3A"/>
                </a:solidFill>
                <a:latin typeface="Aptos" pitchFamily="34" charset="0"/>
                <a:ea typeface="Aptos" pitchFamily="34" charset="-122"/>
                <a:cs typeface="Aptos" pitchFamily="34" charset="-120"/>
              </a:rPr>
              <a:t>Manual dictionary + high-level lineage</a:t>
            </a:r>
            <a:endParaRPr lang="en-US" sz="1900" dirty="0"/>
          </a:p>
        </p:txBody>
      </p:sp>
      <p:sp>
        <p:nvSpPr>
          <p:cNvPr id="11" name="Text 9"/>
          <p:cNvSpPr/>
          <p:nvPr/>
        </p:nvSpPr>
        <p:spPr>
          <a:xfrm>
            <a:off x="749808" y="3054096"/>
            <a:ext cx="2651760" cy="201168"/>
          </a:xfrm>
          <a:prstGeom prst="rect">
            <a:avLst/>
          </a:prstGeom>
          <a:noFill/>
          <a:ln/>
        </p:spPr>
        <p:txBody>
          <a:bodyPr wrap="square" lIns="0" tIns="0" rIns="0" bIns="0" rtlCol="0" anchor="ctr">
            <a:normAutofit/>
          </a:bodyPr>
          <a:lstStyle/>
          <a:p>
            <a:pPr marL="0" indent="0">
              <a:buNone/>
            </a:pPr>
            <a:r>
              <a:rPr lang="en-US" sz="1010" dirty="0">
                <a:solidFill>
                  <a:srgbClr val="617481"/>
                </a:solidFill>
                <a:latin typeface="Aptos" pitchFamily="34" charset="0"/>
                <a:ea typeface="Aptos" pitchFamily="34" charset="-122"/>
                <a:cs typeface="Aptos" pitchFamily="34" charset="-120"/>
              </a:rPr>
              <a:t>• Manual effort to expand to field/table level</a:t>
            </a:r>
            <a:endParaRPr lang="en-US" sz="1010" dirty="0"/>
          </a:p>
        </p:txBody>
      </p:sp>
      <p:sp>
        <p:nvSpPr>
          <p:cNvPr id="12" name="Text 10"/>
          <p:cNvSpPr/>
          <p:nvPr/>
        </p:nvSpPr>
        <p:spPr>
          <a:xfrm>
            <a:off x="749808" y="3364992"/>
            <a:ext cx="2651760" cy="201168"/>
          </a:xfrm>
          <a:prstGeom prst="rect">
            <a:avLst/>
          </a:prstGeom>
          <a:noFill/>
          <a:ln/>
        </p:spPr>
        <p:txBody>
          <a:bodyPr wrap="square" lIns="0" tIns="0" rIns="0" bIns="0" rtlCol="0" anchor="ctr">
            <a:normAutofit/>
          </a:bodyPr>
          <a:lstStyle/>
          <a:p>
            <a:pPr marL="0" indent="0">
              <a:buNone/>
            </a:pPr>
            <a:r>
              <a:rPr lang="en-US" sz="1010" dirty="0">
                <a:solidFill>
                  <a:srgbClr val="617481"/>
                </a:solidFill>
                <a:latin typeface="Aptos" pitchFamily="34" charset="0"/>
                <a:ea typeface="Aptos" pitchFamily="34" charset="-122"/>
                <a:cs typeface="Aptos" pitchFamily="34" charset="-120"/>
              </a:rPr>
              <a:t>• Hard to keep current when systems or rules change</a:t>
            </a:r>
            <a:endParaRPr lang="en-US" sz="1010" dirty="0"/>
          </a:p>
        </p:txBody>
      </p:sp>
      <p:sp>
        <p:nvSpPr>
          <p:cNvPr id="13" name="Text 11"/>
          <p:cNvSpPr/>
          <p:nvPr/>
        </p:nvSpPr>
        <p:spPr>
          <a:xfrm>
            <a:off x="749808" y="3675888"/>
            <a:ext cx="2651760" cy="201168"/>
          </a:xfrm>
          <a:prstGeom prst="rect">
            <a:avLst/>
          </a:prstGeom>
          <a:noFill/>
          <a:ln/>
        </p:spPr>
        <p:txBody>
          <a:bodyPr wrap="square" lIns="0" tIns="0" rIns="0" bIns="0" rtlCol="0" anchor="ctr">
            <a:normAutofit/>
          </a:bodyPr>
          <a:lstStyle/>
          <a:p>
            <a:pPr marL="0" indent="0">
              <a:buNone/>
            </a:pPr>
            <a:r>
              <a:rPr lang="en-US" sz="1010" dirty="0">
                <a:solidFill>
                  <a:srgbClr val="617481"/>
                </a:solidFill>
                <a:latin typeface="Aptos" pitchFamily="34" charset="0"/>
                <a:ea typeface="Aptos" pitchFamily="34" charset="-122"/>
                <a:cs typeface="Aptos" pitchFamily="34" charset="-120"/>
              </a:rPr>
              <a:t>• Limited evidence chain for certification or audit</a:t>
            </a:r>
            <a:endParaRPr lang="en-US" sz="1010" dirty="0"/>
          </a:p>
        </p:txBody>
      </p:sp>
      <p:sp>
        <p:nvSpPr>
          <p:cNvPr id="14" name="Text 12"/>
          <p:cNvSpPr/>
          <p:nvPr/>
        </p:nvSpPr>
        <p:spPr>
          <a:xfrm>
            <a:off x="749808" y="3986784"/>
            <a:ext cx="2651760" cy="201168"/>
          </a:xfrm>
          <a:prstGeom prst="rect">
            <a:avLst/>
          </a:prstGeom>
          <a:noFill/>
          <a:ln/>
        </p:spPr>
        <p:txBody>
          <a:bodyPr wrap="square" lIns="0" tIns="0" rIns="0" bIns="0" rtlCol="0" anchor="ctr">
            <a:normAutofit/>
          </a:bodyPr>
          <a:lstStyle/>
          <a:p>
            <a:pPr marL="0" indent="0">
              <a:buNone/>
            </a:pPr>
            <a:r>
              <a:rPr lang="en-US" sz="1010" dirty="0">
                <a:solidFill>
                  <a:srgbClr val="617481"/>
                </a:solidFill>
                <a:latin typeface="Aptos" pitchFamily="34" charset="0"/>
                <a:ea typeface="Aptos" pitchFamily="34" charset="-122"/>
                <a:cs typeface="Aptos" pitchFamily="34" charset="-120"/>
              </a:rPr>
              <a:t>• Country-to-HQ aggregation creates many hand-offs</a:t>
            </a:r>
            <a:endParaRPr lang="en-US" sz="1010" dirty="0"/>
          </a:p>
        </p:txBody>
      </p:sp>
      <p:sp>
        <p:nvSpPr>
          <p:cNvPr id="15" name="Shape 13"/>
          <p:cNvSpPr/>
          <p:nvPr/>
        </p:nvSpPr>
        <p:spPr>
          <a:xfrm>
            <a:off x="4343400" y="1783080"/>
            <a:ext cx="3566160" cy="2788920"/>
          </a:xfrm>
          <a:prstGeom prst="roundRect">
            <a:avLst>
              <a:gd name="adj" fmla="val 2623"/>
            </a:avLst>
          </a:prstGeom>
          <a:solidFill>
            <a:srgbClr val="E7F6F2"/>
          </a:solidFill>
          <a:ln w="10160">
            <a:solidFill>
              <a:srgbClr val="BFE4DA"/>
            </a:solidFill>
            <a:prstDash val="solid"/>
          </a:ln>
          <a:effectLst>
            <a:outerShdw blurRad="16510" dist="7620" dir="2700000" algn="bl" rotWithShape="0">
              <a:srgbClr val="0C2B3A">
                <a:alpha val="12000"/>
              </a:srgbClr>
            </a:outerShdw>
          </a:effectLst>
        </p:spPr>
        <p:txBody>
          <a:bodyPr/>
          <a:lstStyle/>
          <a:p>
            <a:endParaRPr lang="en-US"/>
          </a:p>
        </p:txBody>
      </p:sp>
      <p:sp>
        <p:nvSpPr>
          <p:cNvPr id="16" name="Text 14"/>
          <p:cNvSpPr/>
          <p:nvPr/>
        </p:nvSpPr>
        <p:spPr>
          <a:xfrm>
            <a:off x="4590288" y="2011680"/>
            <a:ext cx="2651760" cy="182880"/>
          </a:xfrm>
          <a:prstGeom prst="rect">
            <a:avLst/>
          </a:prstGeom>
          <a:noFill/>
          <a:ln/>
        </p:spPr>
        <p:txBody>
          <a:bodyPr wrap="square" lIns="0" tIns="0" rIns="0" bIns="0" rtlCol="0" anchor="ctr">
            <a:normAutofit/>
          </a:bodyPr>
          <a:lstStyle/>
          <a:p>
            <a:pPr marL="0" indent="0">
              <a:buNone/>
            </a:pPr>
            <a:r>
              <a:rPr lang="en-US" sz="870" b="1" kern="0" spc="170" dirty="0">
                <a:solidFill>
                  <a:srgbClr val="0E8F8A"/>
                </a:solidFill>
                <a:latin typeface="Aptos" pitchFamily="34" charset="0"/>
                <a:ea typeface="Aptos" pitchFamily="34" charset="-122"/>
                <a:cs typeface="Aptos" pitchFamily="34" charset="-120"/>
              </a:rPr>
              <a:t>OUR PROPOSITION</a:t>
            </a:r>
            <a:endParaRPr lang="en-US" sz="870" dirty="0"/>
          </a:p>
        </p:txBody>
      </p:sp>
      <p:sp>
        <p:nvSpPr>
          <p:cNvPr id="17" name="Text 15"/>
          <p:cNvSpPr/>
          <p:nvPr/>
        </p:nvSpPr>
        <p:spPr>
          <a:xfrm>
            <a:off x="4590288" y="2304288"/>
            <a:ext cx="2971800" cy="713232"/>
          </a:xfrm>
          <a:prstGeom prst="rect">
            <a:avLst/>
          </a:prstGeom>
          <a:noFill/>
          <a:ln/>
        </p:spPr>
        <p:txBody>
          <a:bodyPr wrap="square" lIns="0" tIns="0" rIns="0" bIns="0" rtlCol="0" anchor="ctr">
            <a:normAutofit/>
          </a:bodyPr>
          <a:lstStyle/>
          <a:p>
            <a:pPr marL="0" indent="0">
              <a:buNone/>
            </a:pPr>
            <a:r>
              <a:rPr lang="en-US" sz="1900" b="1" dirty="0">
                <a:solidFill>
                  <a:srgbClr val="0C2B3A"/>
                </a:solidFill>
                <a:latin typeface="Aptos" pitchFamily="34" charset="0"/>
                <a:ea typeface="Aptos" pitchFamily="34" charset="-122"/>
                <a:cs typeface="Aptos" pitchFamily="34" charset="-120"/>
              </a:rPr>
              <a:t>Automation + intelligence layer around the existing catalog</a:t>
            </a:r>
            <a:endParaRPr lang="en-US" sz="1900" dirty="0"/>
          </a:p>
        </p:txBody>
      </p:sp>
      <p:sp>
        <p:nvSpPr>
          <p:cNvPr id="18" name="Text 16"/>
          <p:cNvSpPr/>
          <p:nvPr/>
        </p:nvSpPr>
        <p:spPr>
          <a:xfrm>
            <a:off x="4590288" y="3127248"/>
            <a:ext cx="2880360" cy="201168"/>
          </a:xfrm>
          <a:prstGeom prst="rect">
            <a:avLst/>
          </a:prstGeom>
          <a:noFill/>
          <a:ln/>
        </p:spPr>
        <p:txBody>
          <a:bodyPr wrap="square" lIns="0" tIns="0" rIns="0" bIns="0" rtlCol="0" anchor="ctr">
            <a:normAutofit/>
          </a:bodyPr>
          <a:lstStyle/>
          <a:p>
            <a:pPr marL="0" indent="0">
              <a:buNone/>
            </a:pPr>
            <a:r>
              <a:rPr lang="en-US" sz="980" dirty="0">
                <a:solidFill>
                  <a:srgbClr val="173342"/>
                </a:solidFill>
                <a:latin typeface="Aptos" pitchFamily="34" charset="0"/>
                <a:ea typeface="Aptos" pitchFamily="34" charset="-122"/>
                <a:cs typeface="Aptos" pitchFamily="34" charset="-120"/>
              </a:rPr>
              <a:t>• Use DataHub/current catalog as the approved metadata destination</a:t>
            </a:r>
            <a:endParaRPr lang="en-US" sz="980" dirty="0"/>
          </a:p>
        </p:txBody>
      </p:sp>
      <p:sp>
        <p:nvSpPr>
          <p:cNvPr id="19" name="Text 17"/>
          <p:cNvSpPr/>
          <p:nvPr/>
        </p:nvSpPr>
        <p:spPr>
          <a:xfrm>
            <a:off x="4590288" y="3419856"/>
            <a:ext cx="2880360" cy="201168"/>
          </a:xfrm>
          <a:prstGeom prst="rect">
            <a:avLst/>
          </a:prstGeom>
          <a:noFill/>
          <a:ln/>
        </p:spPr>
        <p:txBody>
          <a:bodyPr wrap="square" lIns="0" tIns="0" rIns="0" bIns="0" rtlCol="0" anchor="ctr">
            <a:normAutofit/>
          </a:bodyPr>
          <a:lstStyle/>
          <a:p>
            <a:pPr marL="0" indent="0">
              <a:buNone/>
            </a:pPr>
            <a:r>
              <a:rPr lang="en-US" sz="980" dirty="0">
                <a:solidFill>
                  <a:srgbClr val="173342"/>
                </a:solidFill>
                <a:latin typeface="Aptos" pitchFamily="34" charset="0"/>
                <a:ea typeface="Aptos" pitchFamily="34" charset="-122"/>
                <a:cs typeface="Aptos" pitchFamily="34" charset="-120"/>
              </a:rPr>
              <a:t>• Read source code, SQL, ETL config, logs and metadata</a:t>
            </a:r>
            <a:endParaRPr lang="en-US" sz="980" dirty="0"/>
          </a:p>
        </p:txBody>
      </p:sp>
      <p:sp>
        <p:nvSpPr>
          <p:cNvPr id="20" name="Text 18"/>
          <p:cNvSpPr/>
          <p:nvPr/>
        </p:nvSpPr>
        <p:spPr>
          <a:xfrm>
            <a:off x="4590288" y="3712464"/>
            <a:ext cx="2880360" cy="201168"/>
          </a:xfrm>
          <a:prstGeom prst="rect">
            <a:avLst/>
          </a:prstGeom>
          <a:noFill/>
          <a:ln/>
        </p:spPr>
        <p:txBody>
          <a:bodyPr wrap="square" lIns="0" tIns="0" rIns="0" bIns="0" rtlCol="0" anchor="ctr">
            <a:normAutofit/>
          </a:bodyPr>
          <a:lstStyle/>
          <a:p>
            <a:pPr marL="0" indent="0">
              <a:buNone/>
            </a:pPr>
            <a:r>
              <a:rPr lang="en-US" sz="980" dirty="0">
                <a:solidFill>
                  <a:srgbClr val="173342"/>
                </a:solidFill>
                <a:latin typeface="Aptos" pitchFamily="34" charset="0"/>
                <a:ea typeface="Aptos" pitchFamily="34" charset="-122"/>
                <a:cs typeface="Aptos" pitchFamily="34" charset="-120"/>
              </a:rPr>
              <a:t>• Use AI to accelerate mapping — not to approve lineage</a:t>
            </a:r>
            <a:endParaRPr lang="en-US" sz="980" dirty="0"/>
          </a:p>
        </p:txBody>
      </p:sp>
      <p:sp>
        <p:nvSpPr>
          <p:cNvPr id="21" name="Text 19"/>
          <p:cNvSpPr/>
          <p:nvPr/>
        </p:nvSpPr>
        <p:spPr>
          <a:xfrm>
            <a:off x="4590288" y="4005072"/>
            <a:ext cx="2880360" cy="201168"/>
          </a:xfrm>
          <a:prstGeom prst="rect">
            <a:avLst/>
          </a:prstGeom>
          <a:noFill/>
          <a:ln/>
        </p:spPr>
        <p:txBody>
          <a:bodyPr wrap="square" lIns="0" tIns="0" rIns="0" bIns="0" rtlCol="0" anchor="ctr">
            <a:normAutofit/>
          </a:bodyPr>
          <a:lstStyle/>
          <a:p>
            <a:pPr marL="0" indent="0">
              <a:buNone/>
            </a:pPr>
            <a:r>
              <a:rPr lang="en-US" sz="980" dirty="0">
                <a:solidFill>
                  <a:srgbClr val="173342"/>
                </a:solidFill>
                <a:latin typeface="Aptos" pitchFamily="34" charset="0"/>
                <a:ea typeface="Aptos" pitchFamily="34" charset="-122"/>
                <a:cs typeface="Aptos" pitchFamily="34" charset="-120"/>
              </a:rPr>
              <a:t>• Validate with evidence, reconciliation and owner sign-off</a:t>
            </a:r>
            <a:endParaRPr lang="en-US" sz="980" dirty="0"/>
          </a:p>
        </p:txBody>
      </p:sp>
      <p:sp>
        <p:nvSpPr>
          <p:cNvPr id="22" name="Shape 20"/>
          <p:cNvSpPr/>
          <p:nvPr/>
        </p:nvSpPr>
        <p:spPr>
          <a:xfrm>
            <a:off x="8458200" y="1783080"/>
            <a:ext cx="3246120" cy="2788920"/>
          </a:xfrm>
          <a:prstGeom prst="roundRect">
            <a:avLst>
              <a:gd name="adj" fmla="val 2623"/>
            </a:avLst>
          </a:prstGeom>
          <a:solidFill>
            <a:srgbClr val="0C2B3A"/>
          </a:solidFill>
          <a:ln w="10160">
            <a:solidFill>
              <a:srgbClr val="0C2B3A"/>
            </a:solidFill>
            <a:prstDash val="solid"/>
          </a:ln>
          <a:effectLst>
            <a:outerShdw blurRad="16510" dist="7620" dir="2700000" algn="bl" rotWithShape="0">
              <a:srgbClr val="0C2B3A">
                <a:alpha val="12000"/>
              </a:srgbClr>
            </a:outerShdw>
          </a:effectLst>
        </p:spPr>
        <p:txBody>
          <a:bodyPr/>
          <a:lstStyle/>
          <a:p>
            <a:endParaRPr lang="en-US"/>
          </a:p>
        </p:txBody>
      </p:sp>
      <p:sp>
        <p:nvSpPr>
          <p:cNvPr id="23" name="Text 21"/>
          <p:cNvSpPr/>
          <p:nvPr/>
        </p:nvSpPr>
        <p:spPr>
          <a:xfrm>
            <a:off x="8705088" y="2011680"/>
            <a:ext cx="2514600" cy="182880"/>
          </a:xfrm>
          <a:prstGeom prst="rect">
            <a:avLst/>
          </a:prstGeom>
          <a:noFill/>
          <a:ln/>
        </p:spPr>
        <p:txBody>
          <a:bodyPr wrap="square" lIns="0" tIns="0" rIns="0" bIns="0" rtlCol="0" anchor="ctr">
            <a:normAutofit/>
          </a:bodyPr>
          <a:lstStyle/>
          <a:p>
            <a:pPr marL="0" indent="0">
              <a:buNone/>
            </a:pPr>
            <a:r>
              <a:rPr lang="en-US" sz="870" b="1" kern="0" spc="170" dirty="0">
                <a:solidFill>
                  <a:srgbClr val="1FB5A9"/>
                </a:solidFill>
                <a:latin typeface="Aptos" pitchFamily="34" charset="0"/>
                <a:ea typeface="Aptos" pitchFamily="34" charset="-122"/>
                <a:cs typeface="Aptos" pitchFamily="34" charset="-120"/>
              </a:rPr>
              <a:t>OUTCOME</a:t>
            </a:r>
            <a:endParaRPr lang="en-US" sz="870" dirty="0"/>
          </a:p>
        </p:txBody>
      </p:sp>
      <p:sp>
        <p:nvSpPr>
          <p:cNvPr id="24" name="Text 22"/>
          <p:cNvSpPr/>
          <p:nvPr/>
        </p:nvSpPr>
        <p:spPr>
          <a:xfrm>
            <a:off x="8705088" y="2304288"/>
            <a:ext cx="2606040" cy="822960"/>
          </a:xfrm>
          <a:prstGeom prst="rect">
            <a:avLst/>
          </a:prstGeom>
          <a:noFill/>
          <a:ln/>
        </p:spPr>
        <p:txBody>
          <a:bodyPr wrap="square" lIns="0" tIns="0" rIns="0" bIns="0" rtlCol="0" anchor="ctr">
            <a:normAutofit/>
          </a:bodyPr>
          <a:lstStyle/>
          <a:p>
            <a:pPr marL="0" indent="0">
              <a:buNone/>
            </a:pPr>
            <a:r>
              <a:rPr lang="en-US" sz="1850" b="1" dirty="0">
                <a:solidFill>
                  <a:srgbClr val="FFFFFF"/>
                </a:solidFill>
                <a:latin typeface="Aptos" pitchFamily="34" charset="0"/>
                <a:ea typeface="Aptos" pitchFamily="34" charset="-122"/>
                <a:cs typeface="Aptos" pitchFamily="34" charset="-120"/>
              </a:rPr>
              <a:t>Regulatory lineage that can be queried, evidenced and maintained</a:t>
            </a:r>
            <a:endParaRPr lang="en-US" sz="1850" dirty="0"/>
          </a:p>
        </p:txBody>
      </p:sp>
      <p:sp>
        <p:nvSpPr>
          <p:cNvPr id="25" name="Text 23"/>
          <p:cNvSpPr/>
          <p:nvPr/>
        </p:nvSpPr>
        <p:spPr>
          <a:xfrm>
            <a:off x="8705088" y="3218688"/>
            <a:ext cx="2606040" cy="201168"/>
          </a:xfrm>
          <a:prstGeom prst="rect">
            <a:avLst/>
          </a:prstGeom>
          <a:noFill/>
          <a:ln/>
        </p:spPr>
        <p:txBody>
          <a:bodyPr wrap="square" lIns="0" tIns="0" rIns="0" bIns="0" rtlCol="0" anchor="ctr">
            <a:normAutofit/>
          </a:bodyPr>
          <a:lstStyle/>
          <a:p>
            <a:pPr marL="0" indent="0">
              <a:buNone/>
            </a:pPr>
            <a:r>
              <a:rPr lang="en-US" sz="980" dirty="0">
                <a:solidFill>
                  <a:srgbClr val="CFE1E8"/>
                </a:solidFill>
                <a:latin typeface="Aptos" pitchFamily="34" charset="0"/>
                <a:ea typeface="Aptos" pitchFamily="34" charset="-122"/>
                <a:cs typeface="Aptos" pitchFamily="34" charset="-120"/>
              </a:rPr>
              <a:t>• Backward traceability: report → source</a:t>
            </a:r>
            <a:endParaRPr lang="en-US" sz="980" dirty="0"/>
          </a:p>
        </p:txBody>
      </p:sp>
      <p:sp>
        <p:nvSpPr>
          <p:cNvPr id="26" name="Text 24"/>
          <p:cNvSpPr/>
          <p:nvPr/>
        </p:nvSpPr>
        <p:spPr>
          <a:xfrm>
            <a:off x="8705088" y="3511296"/>
            <a:ext cx="2606040" cy="201168"/>
          </a:xfrm>
          <a:prstGeom prst="rect">
            <a:avLst/>
          </a:prstGeom>
          <a:noFill/>
          <a:ln/>
        </p:spPr>
        <p:txBody>
          <a:bodyPr wrap="square" lIns="0" tIns="0" rIns="0" bIns="0" rtlCol="0" anchor="ctr">
            <a:normAutofit/>
          </a:bodyPr>
          <a:lstStyle/>
          <a:p>
            <a:pPr marL="0" indent="0">
              <a:buNone/>
            </a:pPr>
            <a:r>
              <a:rPr lang="en-US" sz="980" dirty="0">
                <a:solidFill>
                  <a:srgbClr val="CFE1E8"/>
                </a:solidFill>
                <a:latin typeface="Aptos" pitchFamily="34" charset="0"/>
                <a:ea typeface="Aptos" pitchFamily="34" charset="-122"/>
                <a:cs typeface="Aptos" pitchFamily="34" charset="-120"/>
              </a:rPr>
              <a:t>• Forward impact: field/rule → affected reports</a:t>
            </a:r>
            <a:endParaRPr lang="en-US" sz="980" dirty="0"/>
          </a:p>
        </p:txBody>
      </p:sp>
      <p:sp>
        <p:nvSpPr>
          <p:cNvPr id="27" name="Text 25"/>
          <p:cNvSpPr/>
          <p:nvPr/>
        </p:nvSpPr>
        <p:spPr>
          <a:xfrm>
            <a:off x="8705088" y="3803904"/>
            <a:ext cx="2606040" cy="201168"/>
          </a:xfrm>
          <a:prstGeom prst="rect">
            <a:avLst/>
          </a:prstGeom>
          <a:noFill/>
          <a:ln/>
        </p:spPr>
        <p:txBody>
          <a:bodyPr wrap="square" lIns="0" tIns="0" rIns="0" bIns="0" rtlCol="0" anchor="ctr">
            <a:normAutofit/>
          </a:bodyPr>
          <a:lstStyle/>
          <a:p>
            <a:pPr marL="0" indent="0">
              <a:buNone/>
            </a:pPr>
            <a:r>
              <a:rPr lang="en-US" sz="980" dirty="0">
                <a:solidFill>
                  <a:srgbClr val="CFE1E8"/>
                </a:solidFill>
                <a:latin typeface="Aptos" pitchFamily="34" charset="0"/>
                <a:ea typeface="Aptos" pitchFamily="34" charset="-122"/>
                <a:cs typeface="Aptos" pitchFamily="34" charset="-120"/>
              </a:rPr>
              <a:t>• Approved owners, status and evidence links</a:t>
            </a:r>
            <a:endParaRPr lang="en-US" sz="980" dirty="0"/>
          </a:p>
        </p:txBody>
      </p:sp>
      <p:sp>
        <p:nvSpPr>
          <p:cNvPr id="28" name="Text 26"/>
          <p:cNvSpPr/>
          <p:nvPr/>
        </p:nvSpPr>
        <p:spPr>
          <a:xfrm>
            <a:off x="8705088" y="4096512"/>
            <a:ext cx="2606040" cy="201168"/>
          </a:xfrm>
          <a:prstGeom prst="rect">
            <a:avLst/>
          </a:prstGeom>
          <a:noFill/>
          <a:ln/>
        </p:spPr>
        <p:txBody>
          <a:bodyPr wrap="square" lIns="0" tIns="0" rIns="0" bIns="0" rtlCol="0" anchor="ctr">
            <a:normAutofit/>
          </a:bodyPr>
          <a:lstStyle/>
          <a:p>
            <a:pPr marL="0" indent="0">
              <a:buNone/>
            </a:pPr>
            <a:r>
              <a:rPr lang="en-US" sz="980" dirty="0">
                <a:solidFill>
                  <a:srgbClr val="CFE1E8"/>
                </a:solidFill>
                <a:latin typeface="Aptos" pitchFamily="34" charset="0"/>
                <a:ea typeface="Aptos" pitchFamily="34" charset="-122"/>
                <a:cs typeface="Aptos" pitchFamily="34" charset="-120"/>
              </a:rPr>
              <a:t>• Reusable pilot pattern for wider rollout</a:t>
            </a:r>
            <a:endParaRPr lang="en-US" sz="980" dirty="0"/>
          </a:p>
        </p:txBody>
      </p:sp>
      <p:sp>
        <p:nvSpPr>
          <p:cNvPr id="29" name="Shape 27"/>
          <p:cNvSpPr/>
          <p:nvPr/>
        </p:nvSpPr>
        <p:spPr>
          <a:xfrm>
            <a:off x="3858768" y="3154680"/>
            <a:ext cx="374904" cy="0"/>
          </a:xfrm>
          <a:prstGeom prst="line">
            <a:avLst/>
          </a:prstGeom>
          <a:noFill/>
          <a:ln w="17780">
            <a:solidFill>
              <a:srgbClr val="9CB9C3"/>
            </a:solidFill>
            <a:prstDash val="solid"/>
            <a:headEnd type="none"/>
            <a:tailEnd type="triangle"/>
          </a:ln>
        </p:spPr>
        <p:txBody>
          <a:bodyPr/>
          <a:lstStyle/>
          <a:p>
            <a:endParaRPr lang="en-US"/>
          </a:p>
        </p:txBody>
      </p:sp>
      <p:sp>
        <p:nvSpPr>
          <p:cNvPr id="30" name="Shape 28"/>
          <p:cNvSpPr/>
          <p:nvPr/>
        </p:nvSpPr>
        <p:spPr>
          <a:xfrm>
            <a:off x="7973568" y="3154680"/>
            <a:ext cx="384048" cy="0"/>
          </a:xfrm>
          <a:prstGeom prst="line">
            <a:avLst/>
          </a:prstGeom>
          <a:noFill/>
          <a:ln w="17780">
            <a:solidFill>
              <a:srgbClr val="9CB9C3"/>
            </a:solidFill>
            <a:prstDash val="solid"/>
            <a:headEnd type="none"/>
            <a:tailEnd type="triangle"/>
          </a:ln>
        </p:spPr>
        <p:txBody>
          <a:bodyPr/>
          <a:lstStyle/>
          <a:p>
            <a:endParaRPr lang="en-US"/>
          </a:p>
        </p:txBody>
      </p:sp>
      <p:sp>
        <p:nvSpPr>
          <p:cNvPr id="31" name="Shape 29"/>
          <p:cNvSpPr/>
          <p:nvPr/>
        </p:nvSpPr>
        <p:spPr>
          <a:xfrm>
            <a:off x="685800" y="5166360"/>
            <a:ext cx="3401568" cy="758952"/>
          </a:xfrm>
          <a:prstGeom prst="roundRect">
            <a:avLst>
              <a:gd name="adj" fmla="val 9639"/>
            </a:avLst>
          </a:prstGeom>
          <a:solidFill>
            <a:srgbClr val="FFFFFF"/>
          </a:solidFill>
          <a:ln w="10160">
            <a:solidFill>
              <a:srgbClr val="D8E4EA"/>
            </a:solidFill>
            <a:prstDash val="solid"/>
          </a:ln>
        </p:spPr>
        <p:txBody>
          <a:bodyPr/>
          <a:lstStyle/>
          <a:p>
            <a:endParaRPr lang="en-US"/>
          </a:p>
        </p:txBody>
      </p:sp>
      <p:sp>
        <p:nvSpPr>
          <p:cNvPr id="32" name="Shape 30"/>
          <p:cNvSpPr/>
          <p:nvPr/>
        </p:nvSpPr>
        <p:spPr>
          <a:xfrm>
            <a:off x="832104" y="5358384"/>
            <a:ext cx="822960" cy="310896"/>
          </a:xfrm>
          <a:prstGeom prst="roundRect">
            <a:avLst>
              <a:gd name="adj" fmla="val 35294"/>
            </a:avLst>
          </a:prstGeom>
          <a:solidFill>
            <a:srgbClr val="0E8F8A"/>
          </a:solidFill>
          <a:ln w="12700">
            <a:solidFill>
              <a:srgbClr val="0E8F8A"/>
            </a:solidFill>
            <a:prstDash val="solid"/>
          </a:ln>
        </p:spPr>
        <p:txBody>
          <a:bodyPr/>
          <a:lstStyle/>
          <a:p>
            <a:endParaRPr lang="en-US"/>
          </a:p>
        </p:txBody>
      </p:sp>
      <p:sp>
        <p:nvSpPr>
          <p:cNvPr id="33" name="Text 31"/>
          <p:cNvSpPr/>
          <p:nvPr/>
        </p:nvSpPr>
        <p:spPr>
          <a:xfrm>
            <a:off x="905256" y="5422392"/>
            <a:ext cx="676656" cy="164592"/>
          </a:xfrm>
          <a:prstGeom prst="rect">
            <a:avLst/>
          </a:prstGeom>
          <a:noFill/>
          <a:ln/>
        </p:spPr>
        <p:txBody>
          <a:bodyPr wrap="square" lIns="0" tIns="0" rIns="0" bIns="0" rtlCol="0" anchor="ctr">
            <a:normAutofit/>
          </a:bodyPr>
          <a:lstStyle/>
          <a:p>
            <a:pPr marL="0" indent="0" algn="ctr">
              <a:buNone/>
            </a:pPr>
            <a:r>
              <a:rPr lang="en-US" sz="860" b="1" kern="0" spc="60" dirty="0">
                <a:solidFill>
                  <a:srgbClr val="FFFFFF"/>
                </a:solidFill>
                <a:latin typeface="Aptos" pitchFamily="34" charset="0"/>
                <a:ea typeface="Aptos" pitchFamily="34" charset="-122"/>
                <a:cs typeface="Aptos" pitchFamily="34" charset="-120"/>
              </a:rPr>
              <a:t>DISCOVER</a:t>
            </a:r>
            <a:endParaRPr lang="en-US" sz="860" dirty="0"/>
          </a:p>
        </p:txBody>
      </p:sp>
      <p:sp>
        <p:nvSpPr>
          <p:cNvPr id="34" name="Text 32"/>
          <p:cNvSpPr/>
          <p:nvPr/>
        </p:nvSpPr>
        <p:spPr>
          <a:xfrm>
            <a:off x="1755648" y="5340096"/>
            <a:ext cx="2148840" cy="256032"/>
          </a:xfrm>
          <a:prstGeom prst="rect">
            <a:avLst/>
          </a:prstGeom>
          <a:noFill/>
          <a:ln/>
        </p:spPr>
        <p:txBody>
          <a:bodyPr wrap="square" lIns="0" tIns="0" rIns="0" bIns="0" rtlCol="0" anchor="ctr">
            <a:normAutofit/>
          </a:bodyPr>
          <a:lstStyle/>
          <a:p>
            <a:pPr marL="0" indent="0">
              <a:buNone/>
            </a:pPr>
            <a:r>
              <a:rPr lang="en-US" sz="1060" b="1" dirty="0">
                <a:solidFill>
                  <a:srgbClr val="0C2B3A"/>
                </a:solidFill>
                <a:latin typeface="Aptos" pitchFamily="34" charset="0"/>
                <a:ea typeface="Aptos" pitchFamily="34" charset="-122"/>
                <a:cs typeface="Aptos" pitchFamily="34" charset="-120"/>
              </a:rPr>
              <a:t>Parse metadata, code and logs</a:t>
            </a:r>
            <a:endParaRPr lang="en-US" sz="1060" dirty="0"/>
          </a:p>
        </p:txBody>
      </p:sp>
      <p:sp>
        <p:nvSpPr>
          <p:cNvPr id="35" name="Shape 33"/>
          <p:cNvSpPr/>
          <p:nvPr/>
        </p:nvSpPr>
        <p:spPr>
          <a:xfrm>
            <a:off x="4416552" y="5166360"/>
            <a:ext cx="3401568" cy="758952"/>
          </a:xfrm>
          <a:prstGeom prst="roundRect">
            <a:avLst>
              <a:gd name="adj" fmla="val 9639"/>
            </a:avLst>
          </a:prstGeom>
          <a:solidFill>
            <a:srgbClr val="FFFFFF"/>
          </a:solidFill>
          <a:ln w="10160">
            <a:solidFill>
              <a:srgbClr val="D8E4EA"/>
            </a:solidFill>
            <a:prstDash val="solid"/>
          </a:ln>
        </p:spPr>
        <p:txBody>
          <a:bodyPr/>
          <a:lstStyle/>
          <a:p>
            <a:endParaRPr lang="en-US"/>
          </a:p>
        </p:txBody>
      </p:sp>
      <p:sp>
        <p:nvSpPr>
          <p:cNvPr id="36" name="Shape 34"/>
          <p:cNvSpPr/>
          <p:nvPr/>
        </p:nvSpPr>
        <p:spPr>
          <a:xfrm>
            <a:off x="4562856" y="5358384"/>
            <a:ext cx="822960" cy="310896"/>
          </a:xfrm>
          <a:prstGeom prst="roundRect">
            <a:avLst>
              <a:gd name="adj" fmla="val 35294"/>
            </a:avLst>
          </a:prstGeom>
          <a:solidFill>
            <a:srgbClr val="58A55C"/>
          </a:solidFill>
          <a:ln w="12700">
            <a:solidFill>
              <a:srgbClr val="58A55C"/>
            </a:solidFill>
            <a:prstDash val="solid"/>
          </a:ln>
        </p:spPr>
        <p:txBody>
          <a:bodyPr/>
          <a:lstStyle/>
          <a:p>
            <a:endParaRPr lang="en-US"/>
          </a:p>
        </p:txBody>
      </p:sp>
      <p:sp>
        <p:nvSpPr>
          <p:cNvPr id="37" name="Text 35"/>
          <p:cNvSpPr/>
          <p:nvPr/>
        </p:nvSpPr>
        <p:spPr>
          <a:xfrm>
            <a:off x="4636008" y="5422392"/>
            <a:ext cx="676656" cy="164592"/>
          </a:xfrm>
          <a:prstGeom prst="rect">
            <a:avLst/>
          </a:prstGeom>
          <a:noFill/>
          <a:ln/>
        </p:spPr>
        <p:txBody>
          <a:bodyPr wrap="square" lIns="0" tIns="0" rIns="0" bIns="0" rtlCol="0" anchor="ctr">
            <a:normAutofit/>
          </a:bodyPr>
          <a:lstStyle/>
          <a:p>
            <a:pPr marL="0" indent="0" algn="ctr">
              <a:buNone/>
            </a:pPr>
            <a:r>
              <a:rPr lang="en-US" sz="860" b="1" kern="0" spc="60" dirty="0">
                <a:solidFill>
                  <a:srgbClr val="FFFFFF"/>
                </a:solidFill>
                <a:latin typeface="Aptos" pitchFamily="34" charset="0"/>
                <a:ea typeface="Aptos" pitchFamily="34" charset="-122"/>
                <a:cs typeface="Aptos" pitchFamily="34" charset="-120"/>
              </a:rPr>
              <a:t>VALIDATE</a:t>
            </a:r>
            <a:endParaRPr lang="en-US" sz="860" dirty="0"/>
          </a:p>
        </p:txBody>
      </p:sp>
      <p:sp>
        <p:nvSpPr>
          <p:cNvPr id="38" name="Text 36"/>
          <p:cNvSpPr/>
          <p:nvPr/>
        </p:nvSpPr>
        <p:spPr>
          <a:xfrm>
            <a:off x="5486400" y="5340096"/>
            <a:ext cx="2148840" cy="256032"/>
          </a:xfrm>
          <a:prstGeom prst="rect">
            <a:avLst/>
          </a:prstGeom>
          <a:noFill/>
          <a:ln/>
        </p:spPr>
        <p:txBody>
          <a:bodyPr wrap="square" lIns="0" tIns="0" rIns="0" bIns="0" rtlCol="0" anchor="ctr">
            <a:normAutofit/>
          </a:bodyPr>
          <a:lstStyle/>
          <a:p>
            <a:pPr marL="0" indent="0">
              <a:buNone/>
            </a:pPr>
            <a:r>
              <a:rPr lang="en-US" sz="1060" b="1" dirty="0">
                <a:solidFill>
                  <a:srgbClr val="0C2B3A"/>
                </a:solidFill>
                <a:latin typeface="Aptos" pitchFamily="34" charset="0"/>
                <a:ea typeface="Aptos" pitchFamily="34" charset="-122"/>
                <a:cs typeface="Aptos" pitchFamily="34" charset="-120"/>
              </a:rPr>
              <a:t>Evidence, reconcile and approve</a:t>
            </a:r>
            <a:endParaRPr lang="en-US" sz="1060" dirty="0"/>
          </a:p>
        </p:txBody>
      </p:sp>
      <p:sp>
        <p:nvSpPr>
          <p:cNvPr id="39" name="Shape 37"/>
          <p:cNvSpPr/>
          <p:nvPr/>
        </p:nvSpPr>
        <p:spPr>
          <a:xfrm>
            <a:off x="8147304" y="5166360"/>
            <a:ext cx="3401568" cy="758952"/>
          </a:xfrm>
          <a:prstGeom prst="roundRect">
            <a:avLst>
              <a:gd name="adj" fmla="val 9639"/>
            </a:avLst>
          </a:prstGeom>
          <a:solidFill>
            <a:srgbClr val="FFFFFF"/>
          </a:solidFill>
          <a:ln w="10160">
            <a:solidFill>
              <a:srgbClr val="D8E4EA"/>
            </a:solidFill>
            <a:prstDash val="solid"/>
          </a:ln>
        </p:spPr>
        <p:txBody>
          <a:bodyPr/>
          <a:lstStyle/>
          <a:p>
            <a:endParaRPr lang="en-US"/>
          </a:p>
        </p:txBody>
      </p:sp>
      <p:sp>
        <p:nvSpPr>
          <p:cNvPr id="40" name="Shape 38"/>
          <p:cNvSpPr/>
          <p:nvPr/>
        </p:nvSpPr>
        <p:spPr>
          <a:xfrm>
            <a:off x="8293608" y="5358384"/>
            <a:ext cx="822960" cy="310896"/>
          </a:xfrm>
          <a:prstGeom prst="roundRect">
            <a:avLst>
              <a:gd name="adj" fmla="val 35294"/>
            </a:avLst>
          </a:prstGeom>
          <a:solidFill>
            <a:srgbClr val="0E8F8A"/>
          </a:solidFill>
          <a:ln w="12700">
            <a:solidFill>
              <a:srgbClr val="0E8F8A"/>
            </a:solidFill>
            <a:prstDash val="solid"/>
          </a:ln>
        </p:spPr>
        <p:txBody>
          <a:bodyPr/>
          <a:lstStyle/>
          <a:p>
            <a:endParaRPr lang="en-US"/>
          </a:p>
        </p:txBody>
      </p:sp>
      <p:sp>
        <p:nvSpPr>
          <p:cNvPr id="41" name="Text 39"/>
          <p:cNvSpPr/>
          <p:nvPr/>
        </p:nvSpPr>
        <p:spPr>
          <a:xfrm>
            <a:off x="8366760" y="5422392"/>
            <a:ext cx="676656" cy="164592"/>
          </a:xfrm>
          <a:prstGeom prst="rect">
            <a:avLst/>
          </a:prstGeom>
          <a:noFill/>
          <a:ln/>
        </p:spPr>
        <p:txBody>
          <a:bodyPr wrap="square" lIns="0" tIns="0" rIns="0" bIns="0" rtlCol="0" anchor="ctr">
            <a:normAutofit/>
          </a:bodyPr>
          <a:lstStyle/>
          <a:p>
            <a:pPr marL="0" indent="0" algn="ctr">
              <a:buNone/>
            </a:pPr>
            <a:r>
              <a:rPr lang="en-US" sz="860" b="1" kern="0" spc="60" dirty="0">
                <a:solidFill>
                  <a:srgbClr val="FFFFFF"/>
                </a:solidFill>
                <a:latin typeface="Aptos" pitchFamily="34" charset="0"/>
                <a:ea typeface="Aptos" pitchFamily="34" charset="-122"/>
                <a:cs typeface="Aptos" pitchFamily="34" charset="-120"/>
              </a:rPr>
              <a:t>GOVERN</a:t>
            </a:r>
            <a:endParaRPr lang="en-US" sz="860" dirty="0"/>
          </a:p>
        </p:txBody>
      </p:sp>
      <p:sp>
        <p:nvSpPr>
          <p:cNvPr id="42" name="Text 40"/>
          <p:cNvSpPr/>
          <p:nvPr/>
        </p:nvSpPr>
        <p:spPr>
          <a:xfrm>
            <a:off x="9217152" y="5340096"/>
            <a:ext cx="2148840" cy="256032"/>
          </a:xfrm>
          <a:prstGeom prst="rect">
            <a:avLst/>
          </a:prstGeom>
          <a:noFill/>
          <a:ln/>
        </p:spPr>
        <p:txBody>
          <a:bodyPr wrap="square" lIns="0" tIns="0" rIns="0" bIns="0" rtlCol="0" anchor="ctr">
            <a:normAutofit/>
          </a:bodyPr>
          <a:lstStyle/>
          <a:p>
            <a:pPr marL="0" indent="0">
              <a:buNone/>
            </a:pPr>
            <a:r>
              <a:rPr lang="en-US" sz="1060" b="1" dirty="0">
                <a:solidFill>
                  <a:srgbClr val="0C2B3A"/>
                </a:solidFill>
                <a:latin typeface="Aptos" pitchFamily="34" charset="0"/>
                <a:ea typeface="Aptos" pitchFamily="34" charset="-122"/>
                <a:cs typeface="Aptos" pitchFamily="34" charset="-120"/>
              </a:rPr>
              <a:t>Owners, change and certification evidence</a:t>
            </a:r>
            <a:endParaRPr lang="en-US" sz="106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0E8F8A"/>
          </a:solidFill>
          <a:ln w="12700">
            <a:solidFill>
              <a:srgbClr val="0E8F8A"/>
            </a:solidFill>
            <a:prstDash val="solid"/>
          </a:ln>
        </p:spPr>
        <p:txBody>
          <a:bodyPr/>
          <a:lstStyle/>
          <a:p>
            <a:endParaRPr lang="en-US"/>
          </a:p>
        </p:txBody>
      </p:sp>
      <p:sp>
        <p:nvSpPr>
          <p:cNvPr id="3" name="Text 1"/>
          <p:cNvSpPr/>
          <p:nvPr/>
        </p:nvSpPr>
        <p:spPr>
          <a:xfrm>
            <a:off x="502920" y="320040"/>
            <a:ext cx="6858000" cy="182880"/>
          </a:xfrm>
          <a:prstGeom prst="rect">
            <a:avLst/>
          </a:prstGeom>
          <a:noFill/>
          <a:ln/>
        </p:spPr>
        <p:txBody>
          <a:bodyPr wrap="square" lIns="0" tIns="0" rIns="0" bIns="0" rtlCol="0" anchor="ctr">
            <a:normAutofit/>
          </a:bodyPr>
          <a:lstStyle/>
          <a:p>
            <a:pPr marL="0" indent="0">
              <a:buNone/>
            </a:pPr>
            <a:r>
              <a:rPr lang="en-US" sz="870" b="1" kern="0" spc="170" dirty="0">
                <a:solidFill>
                  <a:srgbClr val="0E8F8A"/>
                </a:solidFill>
                <a:latin typeface="Aptos" pitchFamily="34" charset="0"/>
                <a:ea typeface="Aptos" pitchFamily="34" charset="-122"/>
                <a:cs typeface="Aptos" pitchFamily="34" charset="-120"/>
              </a:rPr>
              <a:t>02 / HOW WE WILL DO IT</a:t>
            </a:r>
            <a:endParaRPr lang="en-US" sz="870" dirty="0"/>
          </a:p>
        </p:txBody>
      </p:sp>
      <p:sp>
        <p:nvSpPr>
          <p:cNvPr id="4" name="Text 2"/>
          <p:cNvSpPr/>
          <p:nvPr/>
        </p:nvSpPr>
        <p:spPr>
          <a:xfrm>
            <a:off x="502920" y="621792"/>
            <a:ext cx="8869680" cy="502920"/>
          </a:xfrm>
          <a:prstGeom prst="rect">
            <a:avLst/>
          </a:prstGeom>
          <a:noFill/>
          <a:ln/>
        </p:spPr>
        <p:txBody>
          <a:bodyPr wrap="square" lIns="0" tIns="0" rIns="0" bIns="0" rtlCol="0" anchor="ctr">
            <a:normAutofit/>
          </a:bodyPr>
          <a:lstStyle/>
          <a:p>
            <a:pPr marL="0" indent="0">
              <a:buNone/>
            </a:pPr>
            <a:r>
              <a:rPr lang="en-US" sz="2500" b="1" dirty="0">
                <a:solidFill>
                  <a:srgbClr val="0C2B3A"/>
                </a:solidFill>
                <a:latin typeface="Aptos Display" pitchFamily="34" charset="0"/>
                <a:ea typeface="Aptos Display" pitchFamily="34" charset="-122"/>
                <a:cs typeface="Aptos Display" pitchFamily="34" charset="-120"/>
              </a:rPr>
              <a:t>Build a lineage intelligence layer around the existing estate</a:t>
            </a:r>
            <a:endParaRPr lang="en-US" sz="2500" dirty="0"/>
          </a:p>
        </p:txBody>
      </p:sp>
      <p:sp>
        <p:nvSpPr>
          <p:cNvPr id="5" name="Text 3"/>
          <p:cNvSpPr/>
          <p:nvPr/>
        </p:nvSpPr>
        <p:spPr>
          <a:xfrm>
            <a:off x="502920" y="1170432"/>
            <a:ext cx="10789920" cy="338328"/>
          </a:xfrm>
          <a:prstGeom prst="rect">
            <a:avLst/>
          </a:prstGeom>
          <a:noFill/>
          <a:ln/>
        </p:spPr>
        <p:txBody>
          <a:bodyPr wrap="square" lIns="0" tIns="0" rIns="0" bIns="0" rtlCol="0" anchor="t">
            <a:normAutofit/>
          </a:bodyPr>
          <a:lstStyle/>
          <a:p>
            <a:pPr marL="0" indent="0">
              <a:buNone/>
            </a:pPr>
            <a:r>
              <a:rPr lang="en-US" sz="1210" dirty="0">
                <a:solidFill>
                  <a:srgbClr val="617481"/>
                </a:solidFill>
                <a:latin typeface="Aptos" pitchFamily="34" charset="0"/>
                <a:ea typeface="Aptos" pitchFamily="34" charset="-122"/>
                <a:cs typeface="Aptos" pitchFamily="34" charset="-120"/>
              </a:rPr>
              <a:t>Collect technical evidence, extract dependencies, use AI for ambiguity, validate with owners, and publish only approved lineage to the catalog.</a:t>
            </a:r>
            <a:endParaRPr lang="en-US" sz="1210" dirty="0"/>
          </a:p>
        </p:txBody>
      </p:sp>
      <p:sp>
        <p:nvSpPr>
          <p:cNvPr id="6" name="Text 4"/>
          <p:cNvSpPr/>
          <p:nvPr/>
        </p:nvSpPr>
        <p:spPr>
          <a:xfrm>
            <a:off x="502920" y="6528816"/>
            <a:ext cx="5394960" cy="146304"/>
          </a:xfrm>
          <a:prstGeom prst="rect">
            <a:avLst/>
          </a:prstGeom>
          <a:noFill/>
          <a:ln/>
        </p:spPr>
        <p:txBody>
          <a:bodyPr wrap="square" lIns="0" tIns="0" rIns="0" bIns="0" rtlCol="0" anchor="ctr">
            <a:normAutofit/>
          </a:bodyPr>
          <a:lstStyle/>
          <a:p>
            <a:pPr marL="0" indent="0">
              <a:buNone/>
            </a:pPr>
            <a:r>
              <a:rPr lang="en-US" sz="750" dirty="0">
                <a:solidFill>
                  <a:srgbClr val="7B8B94"/>
                </a:solidFill>
                <a:latin typeface="Aptos" pitchFamily="34" charset="0"/>
                <a:ea typeface="Aptos" pitchFamily="34" charset="-122"/>
                <a:cs typeface="Aptos" pitchFamily="34" charset="-120"/>
              </a:rPr>
              <a:t>BCBS239 LINEAGE INDUSTRIALISATION  |  DISCUSSION PROPOSAL</a:t>
            </a:r>
            <a:endParaRPr lang="en-US" sz="750" dirty="0"/>
          </a:p>
        </p:txBody>
      </p:sp>
      <p:sp>
        <p:nvSpPr>
          <p:cNvPr id="7" name="Text 5"/>
          <p:cNvSpPr/>
          <p:nvPr/>
        </p:nvSpPr>
        <p:spPr>
          <a:xfrm>
            <a:off x="11384280" y="6510528"/>
            <a:ext cx="274320" cy="164592"/>
          </a:xfrm>
          <a:prstGeom prst="rect">
            <a:avLst/>
          </a:prstGeom>
          <a:noFill/>
          <a:ln/>
        </p:spPr>
        <p:txBody>
          <a:bodyPr wrap="square" lIns="0" tIns="0" rIns="0" bIns="0" rtlCol="0" anchor="ctr">
            <a:normAutofit/>
          </a:bodyPr>
          <a:lstStyle/>
          <a:p>
            <a:pPr marL="0" indent="0" algn="r">
              <a:buNone/>
            </a:pPr>
            <a:r>
              <a:rPr lang="en-US" sz="800" b="1" dirty="0">
                <a:solidFill>
                  <a:srgbClr val="0E8F8A"/>
                </a:solidFill>
                <a:latin typeface="Aptos" pitchFamily="34" charset="0"/>
                <a:ea typeface="Aptos" pitchFamily="34" charset="-122"/>
                <a:cs typeface="Aptos" pitchFamily="34" charset="-120"/>
              </a:rPr>
              <a:t>02</a:t>
            </a:r>
            <a:endParaRPr lang="en-US" sz="800" dirty="0"/>
          </a:p>
        </p:txBody>
      </p:sp>
      <p:sp>
        <p:nvSpPr>
          <p:cNvPr id="8" name="Shape 6"/>
          <p:cNvSpPr/>
          <p:nvPr/>
        </p:nvSpPr>
        <p:spPr>
          <a:xfrm>
            <a:off x="502920" y="1828800"/>
            <a:ext cx="1920240" cy="3493008"/>
          </a:xfrm>
          <a:prstGeom prst="roundRect">
            <a:avLst>
              <a:gd name="adj" fmla="val 3810"/>
            </a:avLst>
          </a:prstGeom>
          <a:solidFill>
            <a:srgbClr val="FFFFFF"/>
          </a:solidFill>
          <a:ln w="10160">
            <a:solidFill>
              <a:srgbClr val="D8E4EA"/>
            </a:solidFill>
            <a:prstDash val="solid"/>
          </a:ln>
          <a:effectLst>
            <a:outerShdw blurRad="16510" dist="7620" dir="2700000" algn="bl" rotWithShape="0">
              <a:srgbClr val="0C2B3A">
                <a:alpha val="12000"/>
              </a:srgbClr>
            </a:outerShdw>
          </a:effectLst>
        </p:spPr>
        <p:txBody>
          <a:bodyPr/>
          <a:lstStyle/>
          <a:p>
            <a:endParaRPr lang="en-US"/>
          </a:p>
        </p:txBody>
      </p:sp>
      <p:pic>
        <p:nvPicPr>
          <p:cNvPr id="9"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7512" y="2048256"/>
            <a:ext cx="384048" cy="384048"/>
          </a:xfrm>
          <a:prstGeom prst="rect">
            <a:avLst/>
          </a:prstGeom>
        </p:spPr>
      </p:pic>
      <p:sp>
        <p:nvSpPr>
          <p:cNvPr id="10" name="Text 7"/>
          <p:cNvSpPr/>
          <p:nvPr/>
        </p:nvSpPr>
        <p:spPr>
          <a:xfrm>
            <a:off x="1143000" y="2093976"/>
            <a:ext cx="1143000" cy="182880"/>
          </a:xfrm>
          <a:prstGeom prst="rect">
            <a:avLst/>
          </a:prstGeom>
          <a:noFill/>
          <a:ln/>
        </p:spPr>
        <p:txBody>
          <a:bodyPr wrap="square" lIns="0" tIns="0" rIns="0" bIns="0" rtlCol="0" anchor="ctr">
            <a:normAutofit/>
          </a:bodyPr>
          <a:lstStyle/>
          <a:p>
            <a:pPr marL="0" indent="0">
              <a:buNone/>
            </a:pPr>
            <a:r>
              <a:rPr lang="en-US" sz="820" b="1" kern="0" spc="130" dirty="0">
                <a:solidFill>
                  <a:srgbClr val="0E8F8A"/>
                </a:solidFill>
                <a:latin typeface="Aptos" pitchFamily="34" charset="0"/>
                <a:ea typeface="Aptos" pitchFamily="34" charset="-122"/>
                <a:cs typeface="Aptos" pitchFamily="34" charset="-120"/>
              </a:rPr>
              <a:t>INPUTS</a:t>
            </a:r>
            <a:endParaRPr lang="en-US" sz="820" dirty="0"/>
          </a:p>
        </p:txBody>
      </p:sp>
      <p:sp>
        <p:nvSpPr>
          <p:cNvPr id="11" name="Text 8"/>
          <p:cNvSpPr/>
          <p:nvPr/>
        </p:nvSpPr>
        <p:spPr>
          <a:xfrm>
            <a:off x="713232" y="2697480"/>
            <a:ext cx="1499616" cy="201168"/>
          </a:xfrm>
          <a:prstGeom prst="rect">
            <a:avLst/>
          </a:prstGeom>
          <a:noFill/>
          <a:ln/>
        </p:spPr>
        <p:txBody>
          <a:bodyPr wrap="square" lIns="0" tIns="0" rIns="0" bIns="0" rtlCol="0" anchor="ctr">
            <a:normAutofit/>
          </a:bodyPr>
          <a:lstStyle/>
          <a:p>
            <a:pPr marL="0" indent="0">
              <a:buNone/>
            </a:pPr>
            <a:r>
              <a:rPr lang="en-US" sz="1030" b="1" dirty="0">
                <a:solidFill>
                  <a:srgbClr val="173342"/>
                </a:solidFill>
                <a:latin typeface="Aptos" pitchFamily="34" charset="0"/>
                <a:ea typeface="Aptos" pitchFamily="34" charset="-122"/>
                <a:cs typeface="Aptos" pitchFamily="34" charset="-120"/>
              </a:rPr>
              <a:t>Source code</a:t>
            </a:r>
            <a:endParaRPr lang="en-US" sz="1030" dirty="0"/>
          </a:p>
        </p:txBody>
      </p:sp>
      <p:sp>
        <p:nvSpPr>
          <p:cNvPr id="12" name="Text 9"/>
          <p:cNvSpPr/>
          <p:nvPr/>
        </p:nvSpPr>
        <p:spPr>
          <a:xfrm>
            <a:off x="713232" y="3118104"/>
            <a:ext cx="1499616" cy="201168"/>
          </a:xfrm>
          <a:prstGeom prst="rect">
            <a:avLst/>
          </a:prstGeom>
          <a:noFill/>
          <a:ln/>
        </p:spPr>
        <p:txBody>
          <a:bodyPr wrap="square" lIns="0" tIns="0" rIns="0" bIns="0" rtlCol="0" anchor="ctr">
            <a:normAutofit/>
          </a:bodyPr>
          <a:lstStyle/>
          <a:p>
            <a:pPr marL="0" indent="0">
              <a:buNone/>
            </a:pPr>
            <a:r>
              <a:rPr lang="en-US" sz="1030" dirty="0">
                <a:solidFill>
                  <a:srgbClr val="173342"/>
                </a:solidFill>
                <a:latin typeface="Aptos" pitchFamily="34" charset="0"/>
                <a:ea typeface="Aptos" pitchFamily="34" charset="-122"/>
                <a:cs typeface="Aptos" pitchFamily="34" charset="-120"/>
              </a:rPr>
              <a:t>SQL / views</a:t>
            </a:r>
            <a:endParaRPr lang="en-US" sz="1030" dirty="0"/>
          </a:p>
        </p:txBody>
      </p:sp>
      <p:sp>
        <p:nvSpPr>
          <p:cNvPr id="13" name="Text 10"/>
          <p:cNvSpPr/>
          <p:nvPr/>
        </p:nvSpPr>
        <p:spPr>
          <a:xfrm>
            <a:off x="713232" y="3538728"/>
            <a:ext cx="1499616" cy="201168"/>
          </a:xfrm>
          <a:prstGeom prst="rect">
            <a:avLst/>
          </a:prstGeom>
          <a:noFill/>
          <a:ln/>
        </p:spPr>
        <p:txBody>
          <a:bodyPr wrap="square" lIns="0" tIns="0" rIns="0" bIns="0" rtlCol="0" anchor="ctr">
            <a:normAutofit/>
          </a:bodyPr>
          <a:lstStyle/>
          <a:p>
            <a:pPr marL="0" indent="0">
              <a:buNone/>
            </a:pPr>
            <a:r>
              <a:rPr lang="en-US" sz="1030" dirty="0">
                <a:solidFill>
                  <a:srgbClr val="173342"/>
                </a:solidFill>
                <a:latin typeface="Aptos" pitchFamily="34" charset="0"/>
                <a:ea typeface="Aptos" pitchFamily="34" charset="-122"/>
                <a:cs typeface="Aptos" pitchFamily="34" charset="-120"/>
              </a:rPr>
              <a:t>ETL config</a:t>
            </a:r>
            <a:endParaRPr lang="en-US" sz="1030" dirty="0"/>
          </a:p>
        </p:txBody>
      </p:sp>
      <p:sp>
        <p:nvSpPr>
          <p:cNvPr id="14" name="Text 11"/>
          <p:cNvSpPr/>
          <p:nvPr/>
        </p:nvSpPr>
        <p:spPr>
          <a:xfrm>
            <a:off x="713232" y="3959352"/>
            <a:ext cx="1499616" cy="201168"/>
          </a:xfrm>
          <a:prstGeom prst="rect">
            <a:avLst/>
          </a:prstGeom>
          <a:noFill/>
          <a:ln/>
        </p:spPr>
        <p:txBody>
          <a:bodyPr wrap="square" lIns="0" tIns="0" rIns="0" bIns="0" rtlCol="0" anchor="ctr">
            <a:normAutofit/>
          </a:bodyPr>
          <a:lstStyle/>
          <a:p>
            <a:pPr marL="0" indent="0">
              <a:buNone/>
            </a:pPr>
            <a:r>
              <a:rPr lang="en-US" sz="1030" dirty="0">
                <a:solidFill>
                  <a:srgbClr val="173342"/>
                </a:solidFill>
                <a:latin typeface="Aptos" pitchFamily="34" charset="0"/>
                <a:ea typeface="Aptos" pitchFamily="34" charset="-122"/>
                <a:cs typeface="Aptos" pitchFamily="34" charset="-120"/>
              </a:rPr>
              <a:t>Logs</a:t>
            </a:r>
            <a:endParaRPr lang="en-US" sz="1030" dirty="0"/>
          </a:p>
        </p:txBody>
      </p:sp>
      <p:sp>
        <p:nvSpPr>
          <p:cNvPr id="15" name="Text 12"/>
          <p:cNvSpPr/>
          <p:nvPr/>
        </p:nvSpPr>
        <p:spPr>
          <a:xfrm>
            <a:off x="713232" y="4379976"/>
            <a:ext cx="1499616" cy="201168"/>
          </a:xfrm>
          <a:prstGeom prst="rect">
            <a:avLst/>
          </a:prstGeom>
          <a:noFill/>
          <a:ln/>
        </p:spPr>
        <p:txBody>
          <a:bodyPr wrap="square" lIns="0" tIns="0" rIns="0" bIns="0" rtlCol="0" anchor="ctr">
            <a:normAutofit/>
          </a:bodyPr>
          <a:lstStyle/>
          <a:p>
            <a:pPr marL="0" indent="0">
              <a:buNone/>
            </a:pPr>
            <a:r>
              <a:rPr lang="en-US" sz="1030" dirty="0">
                <a:solidFill>
                  <a:srgbClr val="173342"/>
                </a:solidFill>
                <a:latin typeface="Aptos" pitchFamily="34" charset="0"/>
                <a:ea typeface="Aptos" pitchFamily="34" charset="-122"/>
                <a:cs typeface="Aptos" pitchFamily="34" charset="-120"/>
              </a:rPr>
              <a:t>Schemas</a:t>
            </a:r>
            <a:endParaRPr lang="en-US" sz="1030" dirty="0"/>
          </a:p>
        </p:txBody>
      </p:sp>
      <p:sp>
        <p:nvSpPr>
          <p:cNvPr id="16" name="Text 13"/>
          <p:cNvSpPr/>
          <p:nvPr/>
        </p:nvSpPr>
        <p:spPr>
          <a:xfrm>
            <a:off x="713232" y="4800600"/>
            <a:ext cx="1499616" cy="201168"/>
          </a:xfrm>
          <a:prstGeom prst="rect">
            <a:avLst/>
          </a:prstGeom>
          <a:noFill/>
          <a:ln/>
        </p:spPr>
        <p:txBody>
          <a:bodyPr wrap="square" lIns="0" tIns="0" rIns="0" bIns="0" rtlCol="0" anchor="ctr">
            <a:normAutofit/>
          </a:bodyPr>
          <a:lstStyle/>
          <a:p>
            <a:pPr marL="0" indent="0">
              <a:buNone/>
            </a:pPr>
            <a:r>
              <a:rPr lang="en-US" sz="1030" dirty="0">
                <a:solidFill>
                  <a:srgbClr val="173342"/>
                </a:solidFill>
                <a:latin typeface="Aptos" pitchFamily="34" charset="0"/>
                <a:ea typeface="Aptos" pitchFamily="34" charset="-122"/>
                <a:cs typeface="Aptos" pitchFamily="34" charset="-120"/>
              </a:rPr>
              <a:t>Report dictionary</a:t>
            </a:r>
            <a:endParaRPr lang="en-US" sz="1030" dirty="0"/>
          </a:p>
        </p:txBody>
      </p:sp>
      <p:sp>
        <p:nvSpPr>
          <p:cNvPr id="17" name="Shape 14"/>
          <p:cNvSpPr/>
          <p:nvPr/>
        </p:nvSpPr>
        <p:spPr>
          <a:xfrm>
            <a:off x="2496312" y="3584448"/>
            <a:ext cx="128016" cy="0"/>
          </a:xfrm>
          <a:prstGeom prst="line">
            <a:avLst/>
          </a:prstGeom>
          <a:noFill/>
          <a:ln w="15240">
            <a:solidFill>
              <a:srgbClr val="9CB9C3"/>
            </a:solidFill>
            <a:prstDash val="solid"/>
            <a:headEnd type="none"/>
            <a:tailEnd type="triangle"/>
          </a:ln>
        </p:spPr>
        <p:txBody>
          <a:bodyPr/>
          <a:lstStyle/>
          <a:p>
            <a:endParaRPr lang="en-US"/>
          </a:p>
        </p:txBody>
      </p:sp>
      <p:sp>
        <p:nvSpPr>
          <p:cNvPr id="18" name="Shape 15"/>
          <p:cNvSpPr/>
          <p:nvPr/>
        </p:nvSpPr>
        <p:spPr>
          <a:xfrm>
            <a:off x="2697480" y="1828800"/>
            <a:ext cx="1920240" cy="3493008"/>
          </a:xfrm>
          <a:prstGeom prst="roundRect">
            <a:avLst>
              <a:gd name="adj" fmla="val 3810"/>
            </a:avLst>
          </a:prstGeom>
          <a:solidFill>
            <a:srgbClr val="EEF3F6"/>
          </a:solidFill>
          <a:ln w="10160">
            <a:solidFill>
              <a:srgbClr val="D8E4EA"/>
            </a:solidFill>
            <a:prstDash val="solid"/>
          </a:ln>
          <a:effectLst>
            <a:outerShdw blurRad="16510" dist="7620" dir="2700000" algn="bl" rotWithShape="0">
              <a:srgbClr val="0C2B3A">
                <a:alpha val="12000"/>
              </a:srgbClr>
            </a:outerShdw>
          </a:effectLst>
        </p:spPr>
        <p:txBody>
          <a:bodyPr/>
          <a:lstStyle/>
          <a:p>
            <a:endParaRPr lang="en-US"/>
          </a:p>
        </p:txBody>
      </p:sp>
      <p:pic>
        <p:nvPicPr>
          <p:cNvPr id="1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862072" y="2048256"/>
            <a:ext cx="384048" cy="384048"/>
          </a:xfrm>
          <a:prstGeom prst="rect">
            <a:avLst/>
          </a:prstGeom>
        </p:spPr>
      </p:pic>
      <p:sp>
        <p:nvSpPr>
          <p:cNvPr id="20" name="Text 16"/>
          <p:cNvSpPr/>
          <p:nvPr/>
        </p:nvSpPr>
        <p:spPr>
          <a:xfrm>
            <a:off x="3337560" y="2093976"/>
            <a:ext cx="1143000" cy="182880"/>
          </a:xfrm>
          <a:prstGeom prst="rect">
            <a:avLst/>
          </a:prstGeom>
          <a:noFill/>
          <a:ln/>
        </p:spPr>
        <p:txBody>
          <a:bodyPr wrap="square" lIns="0" tIns="0" rIns="0" bIns="0" rtlCol="0" anchor="ctr">
            <a:normAutofit/>
          </a:bodyPr>
          <a:lstStyle/>
          <a:p>
            <a:pPr marL="0" indent="0">
              <a:buNone/>
            </a:pPr>
            <a:r>
              <a:rPr lang="en-US" sz="820" b="1" kern="0" spc="130" dirty="0">
                <a:solidFill>
                  <a:srgbClr val="0E8F8A"/>
                </a:solidFill>
                <a:latin typeface="Aptos" pitchFamily="34" charset="0"/>
                <a:ea typeface="Aptos" pitchFamily="34" charset="-122"/>
                <a:cs typeface="Aptos" pitchFamily="34" charset="-120"/>
              </a:rPr>
              <a:t>COLLECT &amp; PARSE</a:t>
            </a:r>
            <a:endParaRPr lang="en-US" sz="820" dirty="0"/>
          </a:p>
        </p:txBody>
      </p:sp>
      <p:sp>
        <p:nvSpPr>
          <p:cNvPr id="21" name="Text 17"/>
          <p:cNvSpPr/>
          <p:nvPr/>
        </p:nvSpPr>
        <p:spPr>
          <a:xfrm>
            <a:off x="2907792" y="2697480"/>
            <a:ext cx="1499616" cy="201168"/>
          </a:xfrm>
          <a:prstGeom prst="rect">
            <a:avLst/>
          </a:prstGeom>
          <a:noFill/>
          <a:ln/>
        </p:spPr>
        <p:txBody>
          <a:bodyPr wrap="square" lIns="0" tIns="0" rIns="0" bIns="0" rtlCol="0" anchor="ctr">
            <a:normAutofit/>
          </a:bodyPr>
          <a:lstStyle/>
          <a:p>
            <a:pPr marL="0" indent="0">
              <a:buNone/>
            </a:pPr>
            <a:r>
              <a:rPr lang="en-US" sz="1030" b="1" dirty="0">
                <a:solidFill>
                  <a:srgbClr val="173342"/>
                </a:solidFill>
                <a:latin typeface="Aptos" pitchFamily="34" charset="0"/>
                <a:ea typeface="Aptos" pitchFamily="34" charset="-122"/>
                <a:cs typeface="Aptos" pitchFamily="34" charset="-120"/>
              </a:rPr>
              <a:t>Native connectors</a:t>
            </a:r>
            <a:endParaRPr lang="en-US" sz="1030" dirty="0"/>
          </a:p>
        </p:txBody>
      </p:sp>
      <p:sp>
        <p:nvSpPr>
          <p:cNvPr id="22" name="Text 18"/>
          <p:cNvSpPr/>
          <p:nvPr/>
        </p:nvSpPr>
        <p:spPr>
          <a:xfrm>
            <a:off x="2907792" y="3118104"/>
            <a:ext cx="1499616" cy="201168"/>
          </a:xfrm>
          <a:prstGeom prst="rect">
            <a:avLst/>
          </a:prstGeom>
          <a:noFill/>
          <a:ln/>
        </p:spPr>
        <p:txBody>
          <a:bodyPr wrap="square" lIns="0" tIns="0" rIns="0" bIns="0" rtlCol="0" anchor="ctr">
            <a:normAutofit/>
          </a:bodyPr>
          <a:lstStyle/>
          <a:p>
            <a:pPr marL="0" indent="0">
              <a:buNone/>
            </a:pPr>
            <a:r>
              <a:rPr lang="en-US" sz="1030" dirty="0">
                <a:solidFill>
                  <a:srgbClr val="173342"/>
                </a:solidFill>
                <a:latin typeface="Aptos" pitchFamily="34" charset="0"/>
                <a:ea typeface="Aptos" pitchFamily="34" charset="-122"/>
                <a:cs typeface="Aptos" pitchFamily="34" charset="-120"/>
              </a:rPr>
              <a:t>SQL parsers</a:t>
            </a:r>
            <a:endParaRPr lang="en-US" sz="1030" dirty="0"/>
          </a:p>
        </p:txBody>
      </p:sp>
      <p:sp>
        <p:nvSpPr>
          <p:cNvPr id="23" name="Text 19"/>
          <p:cNvSpPr/>
          <p:nvPr/>
        </p:nvSpPr>
        <p:spPr>
          <a:xfrm>
            <a:off x="2907792" y="3538728"/>
            <a:ext cx="1499616" cy="201168"/>
          </a:xfrm>
          <a:prstGeom prst="rect">
            <a:avLst/>
          </a:prstGeom>
          <a:noFill/>
          <a:ln/>
        </p:spPr>
        <p:txBody>
          <a:bodyPr wrap="square" lIns="0" tIns="0" rIns="0" bIns="0" rtlCol="0" anchor="ctr">
            <a:normAutofit/>
          </a:bodyPr>
          <a:lstStyle/>
          <a:p>
            <a:pPr marL="0" indent="0">
              <a:buNone/>
            </a:pPr>
            <a:r>
              <a:rPr lang="en-US" sz="1030" dirty="0">
                <a:solidFill>
                  <a:srgbClr val="173342"/>
                </a:solidFill>
                <a:latin typeface="Aptos" pitchFamily="34" charset="0"/>
                <a:ea typeface="Aptos" pitchFamily="34" charset="-122"/>
                <a:cs typeface="Aptos" pitchFamily="34" charset="-120"/>
              </a:rPr>
              <a:t>ETL extractors</a:t>
            </a:r>
            <a:endParaRPr lang="en-US" sz="1030" dirty="0"/>
          </a:p>
        </p:txBody>
      </p:sp>
      <p:sp>
        <p:nvSpPr>
          <p:cNvPr id="24" name="Text 20"/>
          <p:cNvSpPr/>
          <p:nvPr/>
        </p:nvSpPr>
        <p:spPr>
          <a:xfrm>
            <a:off x="2907792" y="3959352"/>
            <a:ext cx="1499616" cy="201168"/>
          </a:xfrm>
          <a:prstGeom prst="rect">
            <a:avLst/>
          </a:prstGeom>
          <a:noFill/>
          <a:ln/>
        </p:spPr>
        <p:txBody>
          <a:bodyPr wrap="square" lIns="0" tIns="0" rIns="0" bIns="0" rtlCol="0" anchor="ctr">
            <a:normAutofit/>
          </a:bodyPr>
          <a:lstStyle/>
          <a:p>
            <a:pPr marL="0" indent="0">
              <a:buNone/>
            </a:pPr>
            <a:r>
              <a:rPr lang="en-US" sz="1030" dirty="0">
                <a:solidFill>
                  <a:srgbClr val="173342"/>
                </a:solidFill>
                <a:latin typeface="Aptos" pitchFamily="34" charset="0"/>
                <a:ea typeface="Aptos" pitchFamily="34" charset="-122"/>
                <a:cs typeface="Aptos" pitchFamily="34" charset="-120"/>
              </a:rPr>
              <a:t>Custom adapters</a:t>
            </a:r>
            <a:endParaRPr lang="en-US" sz="1030" dirty="0"/>
          </a:p>
        </p:txBody>
      </p:sp>
      <p:sp>
        <p:nvSpPr>
          <p:cNvPr id="25" name="Text 21"/>
          <p:cNvSpPr/>
          <p:nvPr/>
        </p:nvSpPr>
        <p:spPr>
          <a:xfrm>
            <a:off x="2907792" y="4379976"/>
            <a:ext cx="1499616" cy="201168"/>
          </a:xfrm>
          <a:prstGeom prst="rect">
            <a:avLst/>
          </a:prstGeom>
          <a:noFill/>
          <a:ln/>
        </p:spPr>
        <p:txBody>
          <a:bodyPr wrap="square" lIns="0" tIns="0" rIns="0" bIns="0" rtlCol="0" anchor="ctr">
            <a:normAutofit/>
          </a:bodyPr>
          <a:lstStyle/>
          <a:p>
            <a:pPr marL="0" indent="0">
              <a:buNone/>
            </a:pPr>
            <a:r>
              <a:rPr lang="en-US" sz="1030" dirty="0">
                <a:solidFill>
                  <a:srgbClr val="173342"/>
                </a:solidFill>
                <a:latin typeface="Aptos" pitchFamily="34" charset="0"/>
                <a:ea typeface="Aptos" pitchFamily="34" charset="-122"/>
                <a:cs typeface="Aptos" pitchFamily="34" charset="-120"/>
              </a:rPr>
              <a:t>Runtime events</a:t>
            </a:r>
            <a:endParaRPr lang="en-US" sz="1030" dirty="0"/>
          </a:p>
        </p:txBody>
      </p:sp>
      <p:sp>
        <p:nvSpPr>
          <p:cNvPr id="26" name="Shape 22"/>
          <p:cNvSpPr/>
          <p:nvPr/>
        </p:nvSpPr>
        <p:spPr>
          <a:xfrm>
            <a:off x="4690872" y="3584448"/>
            <a:ext cx="128016" cy="0"/>
          </a:xfrm>
          <a:prstGeom prst="line">
            <a:avLst/>
          </a:prstGeom>
          <a:noFill/>
          <a:ln w="15240">
            <a:solidFill>
              <a:srgbClr val="9CB9C3"/>
            </a:solidFill>
            <a:prstDash val="solid"/>
            <a:headEnd type="none"/>
            <a:tailEnd type="triangle"/>
          </a:ln>
        </p:spPr>
        <p:txBody>
          <a:bodyPr/>
          <a:lstStyle/>
          <a:p>
            <a:endParaRPr lang="en-US"/>
          </a:p>
        </p:txBody>
      </p:sp>
      <p:sp>
        <p:nvSpPr>
          <p:cNvPr id="27" name="Shape 23"/>
          <p:cNvSpPr/>
          <p:nvPr/>
        </p:nvSpPr>
        <p:spPr>
          <a:xfrm>
            <a:off x="4892040" y="1828800"/>
            <a:ext cx="2011680" cy="3493008"/>
          </a:xfrm>
          <a:prstGeom prst="roundRect">
            <a:avLst>
              <a:gd name="adj" fmla="val 3636"/>
            </a:avLst>
          </a:prstGeom>
          <a:solidFill>
            <a:srgbClr val="E7F6F2"/>
          </a:solidFill>
          <a:ln w="10160">
            <a:solidFill>
              <a:srgbClr val="D8E4EA"/>
            </a:solidFill>
            <a:prstDash val="solid"/>
          </a:ln>
          <a:effectLst>
            <a:outerShdw blurRad="16510" dist="7620" dir="2700000" algn="bl" rotWithShape="0">
              <a:srgbClr val="0C2B3A">
                <a:alpha val="12000"/>
              </a:srgbClr>
            </a:outerShdw>
          </a:effectLst>
        </p:spPr>
        <p:txBody>
          <a:bodyPr/>
          <a:lstStyle/>
          <a:p>
            <a:endParaRPr lang="en-US"/>
          </a:p>
        </p:txBody>
      </p:sp>
      <p:pic>
        <p:nvPicPr>
          <p:cNvPr id="2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056632" y="2048256"/>
            <a:ext cx="384048" cy="384048"/>
          </a:xfrm>
          <a:prstGeom prst="rect">
            <a:avLst/>
          </a:prstGeom>
        </p:spPr>
      </p:pic>
      <p:sp>
        <p:nvSpPr>
          <p:cNvPr id="29" name="Text 24"/>
          <p:cNvSpPr/>
          <p:nvPr/>
        </p:nvSpPr>
        <p:spPr>
          <a:xfrm>
            <a:off x="5532120" y="2093976"/>
            <a:ext cx="1234440" cy="182880"/>
          </a:xfrm>
          <a:prstGeom prst="rect">
            <a:avLst/>
          </a:prstGeom>
          <a:noFill/>
          <a:ln/>
        </p:spPr>
        <p:txBody>
          <a:bodyPr wrap="square" lIns="0" tIns="0" rIns="0" bIns="0" rtlCol="0" anchor="ctr">
            <a:normAutofit/>
          </a:bodyPr>
          <a:lstStyle/>
          <a:p>
            <a:pPr marL="0" indent="0">
              <a:buNone/>
            </a:pPr>
            <a:r>
              <a:rPr lang="en-US" sz="820" b="1" kern="0" spc="130" dirty="0">
                <a:solidFill>
                  <a:srgbClr val="0E8F8A"/>
                </a:solidFill>
                <a:latin typeface="Aptos" pitchFamily="34" charset="0"/>
                <a:ea typeface="Aptos" pitchFamily="34" charset="-122"/>
                <a:cs typeface="Aptos" pitchFamily="34" charset="-120"/>
              </a:rPr>
              <a:t>INTELLIGENCE LAYER</a:t>
            </a:r>
            <a:endParaRPr lang="en-US" sz="820" dirty="0"/>
          </a:p>
        </p:txBody>
      </p:sp>
      <p:sp>
        <p:nvSpPr>
          <p:cNvPr id="30" name="Text 25"/>
          <p:cNvSpPr/>
          <p:nvPr/>
        </p:nvSpPr>
        <p:spPr>
          <a:xfrm>
            <a:off x="5102352" y="2697480"/>
            <a:ext cx="1591056" cy="201168"/>
          </a:xfrm>
          <a:prstGeom prst="rect">
            <a:avLst/>
          </a:prstGeom>
          <a:noFill/>
          <a:ln/>
        </p:spPr>
        <p:txBody>
          <a:bodyPr wrap="square" lIns="0" tIns="0" rIns="0" bIns="0" rtlCol="0" anchor="ctr">
            <a:normAutofit/>
          </a:bodyPr>
          <a:lstStyle/>
          <a:p>
            <a:pPr marL="0" indent="0">
              <a:buNone/>
            </a:pPr>
            <a:r>
              <a:rPr lang="en-US" sz="1030" b="1" dirty="0">
                <a:solidFill>
                  <a:srgbClr val="173342"/>
                </a:solidFill>
                <a:latin typeface="Aptos" pitchFamily="34" charset="0"/>
                <a:ea typeface="Aptos" pitchFamily="34" charset="-122"/>
                <a:cs typeface="Aptos" pitchFamily="34" charset="-120"/>
              </a:rPr>
              <a:t>Table/column links</a:t>
            </a:r>
            <a:endParaRPr lang="en-US" sz="1030" dirty="0"/>
          </a:p>
        </p:txBody>
      </p:sp>
      <p:sp>
        <p:nvSpPr>
          <p:cNvPr id="31" name="Text 26"/>
          <p:cNvSpPr/>
          <p:nvPr/>
        </p:nvSpPr>
        <p:spPr>
          <a:xfrm>
            <a:off x="5102352" y="3118104"/>
            <a:ext cx="1591056" cy="201168"/>
          </a:xfrm>
          <a:prstGeom prst="rect">
            <a:avLst/>
          </a:prstGeom>
          <a:noFill/>
          <a:ln/>
        </p:spPr>
        <p:txBody>
          <a:bodyPr wrap="square" lIns="0" tIns="0" rIns="0" bIns="0" rtlCol="0" anchor="ctr">
            <a:normAutofit/>
          </a:bodyPr>
          <a:lstStyle/>
          <a:p>
            <a:pPr marL="0" indent="0">
              <a:buNone/>
            </a:pPr>
            <a:r>
              <a:rPr lang="en-US" sz="1030" dirty="0">
                <a:solidFill>
                  <a:srgbClr val="173342"/>
                </a:solidFill>
                <a:latin typeface="Aptos" pitchFamily="34" charset="0"/>
                <a:ea typeface="Aptos" pitchFamily="34" charset="-122"/>
                <a:cs typeface="Aptos" pitchFamily="34" charset="-120"/>
              </a:rPr>
              <a:t>Transformation logic</a:t>
            </a:r>
            <a:endParaRPr lang="en-US" sz="1030" dirty="0"/>
          </a:p>
        </p:txBody>
      </p:sp>
      <p:sp>
        <p:nvSpPr>
          <p:cNvPr id="32" name="Text 27"/>
          <p:cNvSpPr/>
          <p:nvPr/>
        </p:nvSpPr>
        <p:spPr>
          <a:xfrm>
            <a:off x="5102352" y="3538728"/>
            <a:ext cx="1591056" cy="201168"/>
          </a:xfrm>
          <a:prstGeom prst="rect">
            <a:avLst/>
          </a:prstGeom>
          <a:noFill/>
          <a:ln/>
        </p:spPr>
        <p:txBody>
          <a:bodyPr wrap="square" lIns="0" tIns="0" rIns="0" bIns="0" rtlCol="0" anchor="ctr">
            <a:normAutofit/>
          </a:bodyPr>
          <a:lstStyle/>
          <a:p>
            <a:pPr marL="0" indent="0">
              <a:buNone/>
            </a:pPr>
            <a:r>
              <a:rPr lang="en-US" sz="1030" dirty="0">
                <a:solidFill>
                  <a:srgbClr val="173342"/>
                </a:solidFill>
                <a:latin typeface="Aptos" pitchFamily="34" charset="0"/>
                <a:ea typeface="Aptos" pitchFamily="34" charset="-122"/>
                <a:cs typeface="Aptos" pitchFamily="34" charset="-120"/>
              </a:rPr>
              <a:t>Business-rule extraction</a:t>
            </a:r>
            <a:endParaRPr lang="en-US" sz="1030" dirty="0"/>
          </a:p>
        </p:txBody>
      </p:sp>
      <p:sp>
        <p:nvSpPr>
          <p:cNvPr id="33" name="Text 28"/>
          <p:cNvSpPr/>
          <p:nvPr/>
        </p:nvSpPr>
        <p:spPr>
          <a:xfrm>
            <a:off x="5102352" y="3959352"/>
            <a:ext cx="1591056" cy="201168"/>
          </a:xfrm>
          <a:prstGeom prst="rect">
            <a:avLst/>
          </a:prstGeom>
          <a:noFill/>
          <a:ln/>
        </p:spPr>
        <p:txBody>
          <a:bodyPr wrap="square" lIns="0" tIns="0" rIns="0" bIns="0" rtlCol="0" anchor="ctr">
            <a:normAutofit/>
          </a:bodyPr>
          <a:lstStyle/>
          <a:p>
            <a:pPr marL="0" indent="0">
              <a:buNone/>
            </a:pPr>
            <a:r>
              <a:rPr lang="en-US" sz="1030" dirty="0">
                <a:solidFill>
                  <a:srgbClr val="173342"/>
                </a:solidFill>
                <a:latin typeface="Aptos" pitchFamily="34" charset="0"/>
                <a:ea typeface="Aptos" pitchFamily="34" charset="-122"/>
                <a:cs typeface="Aptos" pitchFamily="34" charset="-120"/>
              </a:rPr>
              <a:t>Knowledge graph</a:t>
            </a:r>
            <a:endParaRPr lang="en-US" sz="1030" dirty="0"/>
          </a:p>
        </p:txBody>
      </p:sp>
      <p:sp>
        <p:nvSpPr>
          <p:cNvPr id="34" name="Text 29"/>
          <p:cNvSpPr/>
          <p:nvPr/>
        </p:nvSpPr>
        <p:spPr>
          <a:xfrm>
            <a:off x="5102352" y="4379976"/>
            <a:ext cx="1591056" cy="201168"/>
          </a:xfrm>
          <a:prstGeom prst="rect">
            <a:avLst/>
          </a:prstGeom>
          <a:noFill/>
          <a:ln/>
        </p:spPr>
        <p:txBody>
          <a:bodyPr wrap="square" lIns="0" tIns="0" rIns="0" bIns="0" rtlCol="0" anchor="ctr">
            <a:normAutofit/>
          </a:bodyPr>
          <a:lstStyle/>
          <a:p>
            <a:pPr marL="0" indent="0">
              <a:buNone/>
            </a:pPr>
            <a:r>
              <a:rPr lang="en-US" sz="1030" dirty="0">
                <a:solidFill>
                  <a:srgbClr val="173342"/>
                </a:solidFill>
                <a:latin typeface="Aptos" pitchFamily="34" charset="0"/>
                <a:ea typeface="Aptos" pitchFamily="34" charset="-122"/>
                <a:cs typeface="Aptos" pitchFamily="34" charset="-120"/>
              </a:rPr>
              <a:t>AI candidates</a:t>
            </a:r>
            <a:endParaRPr lang="en-US" sz="1030" dirty="0"/>
          </a:p>
        </p:txBody>
      </p:sp>
      <p:sp>
        <p:nvSpPr>
          <p:cNvPr id="35" name="Shape 30"/>
          <p:cNvSpPr/>
          <p:nvPr/>
        </p:nvSpPr>
        <p:spPr>
          <a:xfrm>
            <a:off x="6976872" y="3584448"/>
            <a:ext cx="219456" cy="0"/>
          </a:xfrm>
          <a:prstGeom prst="line">
            <a:avLst/>
          </a:prstGeom>
          <a:noFill/>
          <a:ln w="15240">
            <a:solidFill>
              <a:srgbClr val="9CB9C3"/>
            </a:solidFill>
            <a:prstDash val="solid"/>
            <a:headEnd type="none"/>
            <a:tailEnd type="triangle"/>
          </a:ln>
        </p:spPr>
        <p:txBody>
          <a:bodyPr/>
          <a:lstStyle/>
          <a:p>
            <a:endParaRPr lang="en-US"/>
          </a:p>
        </p:txBody>
      </p:sp>
      <p:sp>
        <p:nvSpPr>
          <p:cNvPr id="36" name="Shape 31"/>
          <p:cNvSpPr/>
          <p:nvPr/>
        </p:nvSpPr>
        <p:spPr>
          <a:xfrm>
            <a:off x="7269480" y="1828800"/>
            <a:ext cx="1920240" cy="3493008"/>
          </a:xfrm>
          <a:prstGeom prst="roundRect">
            <a:avLst>
              <a:gd name="adj" fmla="val 3810"/>
            </a:avLst>
          </a:prstGeom>
          <a:solidFill>
            <a:srgbClr val="FFFFFF"/>
          </a:solidFill>
          <a:ln w="10160">
            <a:solidFill>
              <a:srgbClr val="D8E4EA"/>
            </a:solidFill>
            <a:prstDash val="solid"/>
          </a:ln>
          <a:effectLst>
            <a:outerShdw blurRad="16510" dist="7620" dir="2700000" algn="bl" rotWithShape="0">
              <a:srgbClr val="0C2B3A">
                <a:alpha val="12000"/>
              </a:srgbClr>
            </a:outerShdw>
          </a:effectLst>
        </p:spPr>
        <p:txBody>
          <a:bodyPr/>
          <a:lstStyle/>
          <a:p>
            <a:endParaRPr lang="en-US"/>
          </a:p>
        </p:txBody>
      </p:sp>
      <p:pic>
        <p:nvPicPr>
          <p:cNvPr id="37"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434072" y="2048256"/>
            <a:ext cx="384048" cy="384048"/>
          </a:xfrm>
          <a:prstGeom prst="rect">
            <a:avLst/>
          </a:prstGeom>
        </p:spPr>
      </p:pic>
      <p:sp>
        <p:nvSpPr>
          <p:cNvPr id="38" name="Text 32"/>
          <p:cNvSpPr/>
          <p:nvPr/>
        </p:nvSpPr>
        <p:spPr>
          <a:xfrm>
            <a:off x="7909560" y="2093976"/>
            <a:ext cx="1143000" cy="182880"/>
          </a:xfrm>
          <a:prstGeom prst="rect">
            <a:avLst/>
          </a:prstGeom>
          <a:noFill/>
          <a:ln/>
        </p:spPr>
        <p:txBody>
          <a:bodyPr wrap="square" lIns="0" tIns="0" rIns="0" bIns="0" rtlCol="0" anchor="ctr">
            <a:normAutofit/>
          </a:bodyPr>
          <a:lstStyle/>
          <a:p>
            <a:pPr marL="0" indent="0">
              <a:buNone/>
            </a:pPr>
            <a:r>
              <a:rPr lang="en-US" sz="820" b="1" kern="0" spc="130" dirty="0">
                <a:solidFill>
                  <a:srgbClr val="0E8F8A"/>
                </a:solidFill>
                <a:latin typeface="Aptos" pitchFamily="34" charset="0"/>
                <a:ea typeface="Aptos" pitchFamily="34" charset="-122"/>
                <a:cs typeface="Aptos" pitchFamily="34" charset="-120"/>
              </a:rPr>
              <a:t>VALIDATE</a:t>
            </a:r>
            <a:endParaRPr lang="en-US" sz="820" dirty="0"/>
          </a:p>
        </p:txBody>
      </p:sp>
      <p:sp>
        <p:nvSpPr>
          <p:cNvPr id="39" name="Text 33"/>
          <p:cNvSpPr/>
          <p:nvPr/>
        </p:nvSpPr>
        <p:spPr>
          <a:xfrm>
            <a:off x="7479792" y="2697480"/>
            <a:ext cx="1499616" cy="201168"/>
          </a:xfrm>
          <a:prstGeom prst="rect">
            <a:avLst/>
          </a:prstGeom>
          <a:noFill/>
          <a:ln/>
        </p:spPr>
        <p:txBody>
          <a:bodyPr wrap="square" lIns="0" tIns="0" rIns="0" bIns="0" rtlCol="0" anchor="ctr">
            <a:normAutofit/>
          </a:bodyPr>
          <a:lstStyle/>
          <a:p>
            <a:pPr marL="0" indent="0">
              <a:buNone/>
            </a:pPr>
            <a:r>
              <a:rPr lang="en-US" sz="1030" b="1" dirty="0">
                <a:solidFill>
                  <a:srgbClr val="173342"/>
                </a:solidFill>
                <a:latin typeface="Aptos" pitchFamily="34" charset="0"/>
                <a:ea typeface="Aptos" pitchFamily="34" charset="-122"/>
                <a:cs typeface="Aptos" pitchFamily="34" charset="-120"/>
              </a:rPr>
              <a:t>Code evidence</a:t>
            </a:r>
            <a:endParaRPr lang="en-US" sz="1030" dirty="0"/>
          </a:p>
        </p:txBody>
      </p:sp>
      <p:sp>
        <p:nvSpPr>
          <p:cNvPr id="40" name="Text 34"/>
          <p:cNvSpPr/>
          <p:nvPr/>
        </p:nvSpPr>
        <p:spPr>
          <a:xfrm>
            <a:off x="7479792" y="3118104"/>
            <a:ext cx="1499616" cy="201168"/>
          </a:xfrm>
          <a:prstGeom prst="rect">
            <a:avLst/>
          </a:prstGeom>
          <a:noFill/>
          <a:ln/>
        </p:spPr>
        <p:txBody>
          <a:bodyPr wrap="square" lIns="0" tIns="0" rIns="0" bIns="0" rtlCol="0" anchor="ctr">
            <a:normAutofit/>
          </a:bodyPr>
          <a:lstStyle/>
          <a:p>
            <a:pPr marL="0" indent="0">
              <a:buNone/>
            </a:pPr>
            <a:r>
              <a:rPr lang="en-US" sz="1030" dirty="0">
                <a:solidFill>
                  <a:srgbClr val="173342"/>
                </a:solidFill>
                <a:latin typeface="Aptos" pitchFamily="34" charset="0"/>
                <a:ea typeface="Aptos" pitchFamily="34" charset="-122"/>
                <a:cs typeface="Aptos" pitchFamily="34" charset="-120"/>
              </a:rPr>
              <a:t>Config/log checks</a:t>
            </a:r>
            <a:endParaRPr lang="en-US" sz="1030" dirty="0"/>
          </a:p>
        </p:txBody>
      </p:sp>
      <p:sp>
        <p:nvSpPr>
          <p:cNvPr id="41" name="Text 35"/>
          <p:cNvSpPr/>
          <p:nvPr/>
        </p:nvSpPr>
        <p:spPr>
          <a:xfrm>
            <a:off x="7479792" y="3538728"/>
            <a:ext cx="1499616" cy="201168"/>
          </a:xfrm>
          <a:prstGeom prst="rect">
            <a:avLst/>
          </a:prstGeom>
          <a:noFill/>
          <a:ln/>
        </p:spPr>
        <p:txBody>
          <a:bodyPr wrap="square" lIns="0" tIns="0" rIns="0" bIns="0" rtlCol="0" anchor="ctr">
            <a:normAutofit/>
          </a:bodyPr>
          <a:lstStyle/>
          <a:p>
            <a:pPr marL="0" indent="0">
              <a:buNone/>
            </a:pPr>
            <a:r>
              <a:rPr lang="en-US" sz="1030" dirty="0">
                <a:solidFill>
                  <a:srgbClr val="173342"/>
                </a:solidFill>
                <a:latin typeface="Aptos" pitchFamily="34" charset="0"/>
                <a:ea typeface="Aptos" pitchFamily="34" charset="-122"/>
                <a:cs typeface="Aptos" pitchFamily="34" charset="-120"/>
              </a:rPr>
              <a:t>Reconciliation</a:t>
            </a:r>
            <a:endParaRPr lang="en-US" sz="1030" dirty="0"/>
          </a:p>
        </p:txBody>
      </p:sp>
      <p:sp>
        <p:nvSpPr>
          <p:cNvPr id="42" name="Text 36"/>
          <p:cNvSpPr/>
          <p:nvPr/>
        </p:nvSpPr>
        <p:spPr>
          <a:xfrm>
            <a:off x="7479792" y="3959352"/>
            <a:ext cx="1499616" cy="201168"/>
          </a:xfrm>
          <a:prstGeom prst="rect">
            <a:avLst/>
          </a:prstGeom>
          <a:noFill/>
          <a:ln/>
        </p:spPr>
        <p:txBody>
          <a:bodyPr wrap="square" lIns="0" tIns="0" rIns="0" bIns="0" rtlCol="0" anchor="ctr">
            <a:normAutofit/>
          </a:bodyPr>
          <a:lstStyle/>
          <a:p>
            <a:pPr marL="0" indent="0">
              <a:buNone/>
            </a:pPr>
            <a:r>
              <a:rPr lang="en-US" sz="1030" dirty="0">
                <a:solidFill>
                  <a:srgbClr val="173342"/>
                </a:solidFill>
                <a:latin typeface="Aptos" pitchFamily="34" charset="0"/>
                <a:ea typeface="Aptos" pitchFamily="34" charset="-122"/>
                <a:cs typeface="Aptos" pitchFamily="34" charset="-120"/>
              </a:rPr>
              <a:t>Human review</a:t>
            </a:r>
            <a:endParaRPr lang="en-US" sz="1030" dirty="0"/>
          </a:p>
        </p:txBody>
      </p:sp>
      <p:sp>
        <p:nvSpPr>
          <p:cNvPr id="43" name="Text 37"/>
          <p:cNvSpPr/>
          <p:nvPr/>
        </p:nvSpPr>
        <p:spPr>
          <a:xfrm>
            <a:off x="7479792" y="4379976"/>
            <a:ext cx="1499616" cy="201168"/>
          </a:xfrm>
          <a:prstGeom prst="rect">
            <a:avLst/>
          </a:prstGeom>
          <a:noFill/>
          <a:ln/>
        </p:spPr>
        <p:txBody>
          <a:bodyPr wrap="square" lIns="0" tIns="0" rIns="0" bIns="0" rtlCol="0" anchor="ctr">
            <a:normAutofit/>
          </a:bodyPr>
          <a:lstStyle/>
          <a:p>
            <a:pPr marL="0" indent="0">
              <a:buNone/>
            </a:pPr>
            <a:r>
              <a:rPr lang="en-US" sz="1030" dirty="0">
                <a:solidFill>
                  <a:srgbClr val="173342"/>
                </a:solidFill>
                <a:latin typeface="Aptos" pitchFamily="34" charset="0"/>
                <a:ea typeface="Aptos" pitchFamily="34" charset="-122"/>
                <a:cs typeface="Aptos" pitchFamily="34" charset="-120"/>
              </a:rPr>
              <a:t>Owner approval</a:t>
            </a:r>
            <a:endParaRPr lang="en-US" sz="1030" dirty="0"/>
          </a:p>
        </p:txBody>
      </p:sp>
      <p:sp>
        <p:nvSpPr>
          <p:cNvPr id="44" name="Shape 38"/>
          <p:cNvSpPr/>
          <p:nvPr/>
        </p:nvSpPr>
        <p:spPr>
          <a:xfrm>
            <a:off x="9262872" y="3584448"/>
            <a:ext cx="128016" cy="0"/>
          </a:xfrm>
          <a:prstGeom prst="line">
            <a:avLst/>
          </a:prstGeom>
          <a:noFill/>
          <a:ln w="15240">
            <a:solidFill>
              <a:srgbClr val="9CB9C3"/>
            </a:solidFill>
            <a:prstDash val="solid"/>
            <a:headEnd type="none"/>
            <a:tailEnd type="triangle"/>
          </a:ln>
        </p:spPr>
        <p:txBody>
          <a:bodyPr/>
          <a:lstStyle/>
          <a:p>
            <a:endParaRPr lang="en-US"/>
          </a:p>
        </p:txBody>
      </p:sp>
      <p:sp>
        <p:nvSpPr>
          <p:cNvPr id="45" name="Shape 39"/>
          <p:cNvSpPr/>
          <p:nvPr/>
        </p:nvSpPr>
        <p:spPr>
          <a:xfrm>
            <a:off x="9464040" y="1828800"/>
            <a:ext cx="2240280" cy="3493008"/>
          </a:xfrm>
          <a:prstGeom prst="roundRect">
            <a:avLst>
              <a:gd name="adj" fmla="val 3265"/>
            </a:avLst>
          </a:prstGeom>
          <a:solidFill>
            <a:srgbClr val="0C2B3A"/>
          </a:solidFill>
          <a:ln w="10160">
            <a:solidFill>
              <a:srgbClr val="0C2B3A"/>
            </a:solidFill>
            <a:prstDash val="solid"/>
          </a:ln>
          <a:effectLst>
            <a:outerShdw blurRad="16510" dist="7620" dir="2700000" algn="bl" rotWithShape="0">
              <a:srgbClr val="0C2B3A">
                <a:alpha val="12000"/>
              </a:srgbClr>
            </a:outerShdw>
          </a:effectLst>
        </p:spPr>
        <p:txBody>
          <a:bodyPr/>
          <a:lstStyle/>
          <a:p>
            <a:endParaRPr lang="en-US"/>
          </a:p>
        </p:txBody>
      </p:sp>
      <p:pic>
        <p:nvPicPr>
          <p:cNvPr id="4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628632" y="2048256"/>
            <a:ext cx="384048" cy="384048"/>
          </a:xfrm>
          <a:prstGeom prst="rect">
            <a:avLst/>
          </a:prstGeom>
        </p:spPr>
      </p:pic>
      <p:sp>
        <p:nvSpPr>
          <p:cNvPr id="47" name="Text 40"/>
          <p:cNvSpPr/>
          <p:nvPr/>
        </p:nvSpPr>
        <p:spPr>
          <a:xfrm>
            <a:off x="10104120" y="2093976"/>
            <a:ext cx="1463040" cy="182880"/>
          </a:xfrm>
          <a:prstGeom prst="rect">
            <a:avLst/>
          </a:prstGeom>
          <a:noFill/>
          <a:ln/>
        </p:spPr>
        <p:txBody>
          <a:bodyPr wrap="square" lIns="0" tIns="0" rIns="0" bIns="0" rtlCol="0" anchor="ctr">
            <a:normAutofit/>
          </a:bodyPr>
          <a:lstStyle/>
          <a:p>
            <a:pPr marL="0" indent="0">
              <a:buNone/>
            </a:pPr>
            <a:r>
              <a:rPr lang="en-US" sz="820" b="1" kern="0" spc="130" dirty="0">
                <a:solidFill>
                  <a:srgbClr val="1FB5A9"/>
                </a:solidFill>
                <a:latin typeface="Aptos" pitchFamily="34" charset="0"/>
                <a:ea typeface="Aptos" pitchFamily="34" charset="-122"/>
                <a:cs typeface="Aptos" pitchFamily="34" charset="-120"/>
              </a:rPr>
              <a:t>PUBLISH &amp; OPERATE</a:t>
            </a:r>
            <a:endParaRPr lang="en-US" sz="820" dirty="0"/>
          </a:p>
        </p:txBody>
      </p:sp>
      <p:sp>
        <p:nvSpPr>
          <p:cNvPr id="48" name="Text 41"/>
          <p:cNvSpPr/>
          <p:nvPr/>
        </p:nvSpPr>
        <p:spPr>
          <a:xfrm>
            <a:off x="9674352" y="2697480"/>
            <a:ext cx="1819656" cy="201168"/>
          </a:xfrm>
          <a:prstGeom prst="rect">
            <a:avLst/>
          </a:prstGeom>
          <a:noFill/>
          <a:ln/>
        </p:spPr>
        <p:txBody>
          <a:bodyPr wrap="square" lIns="0" tIns="0" rIns="0" bIns="0" rtlCol="0" anchor="ctr">
            <a:normAutofit/>
          </a:bodyPr>
          <a:lstStyle/>
          <a:p>
            <a:pPr marL="0" indent="0">
              <a:buNone/>
            </a:pPr>
            <a:r>
              <a:rPr lang="en-US" sz="1030" b="1" dirty="0">
                <a:solidFill>
                  <a:srgbClr val="FFFFFF"/>
                </a:solidFill>
                <a:latin typeface="Aptos" pitchFamily="34" charset="0"/>
                <a:ea typeface="Aptos" pitchFamily="34" charset="-122"/>
                <a:cs typeface="Aptos" pitchFamily="34" charset="-120"/>
              </a:rPr>
              <a:t>DataHub/current catalog</a:t>
            </a:r>
            <a:endParaRPr lang="en-US" sz="1030" dirty="0"/>
          </a:p>
        </p:txBody>
      </p:sp>
      <p:sp>
        <p:nvSpPr>
          <p:cNvPr id="49" name="Text 42"/>
          <p:cNvSpPr/>
          <p:nvPr/>
        </p:nvSpPr>
        <p:spPr>
          <a:xfrm>
            <a:off x="9674352" y="3118104"/>
            <a:ext cx="1819656" cy="201168"/>
          </a:xfrm>
          <a:prstGeom prst="rect">
            <a:avLst/>
          </a:prstGeom>
          <a:noFill/>
          <a:ln/>
        </p:spPr>
        <p:txBody>
          <a:bodyPr wrap="square" lIns="0" tIns="0" rIns="0" bIns="0" rtlCol="0" anchor="ctr">
            <a:normAutofit/>
          </a:bodyPr>
          <a:lstStyle/>
          <a:p>
            <a:pPr marL="0" indent="0">
              <a:buNone/>
            </a:pPr>
            <a:r>
              <a:rPr lang="en-US" sz="1030" dirty="0">
                <a:solidFill>
                  <a:srgbClr val="FFFFFF"/>
                </a:solidFill>
                <a:latin typeface="Aptos" pitchFamily="34" charset="0"/>
                <a:ea typeface="Aptos" pitchFamily="34" charset="-122"/>
                <a:cs typeface="Aptos" pitchFamily="34" charset="-120"/>
              </a:rPr>
              <a:t>Approved lineage</a:t>
            </a:r>
            <a:endParaRPr lang="en-US" sz="1030" dirty="0"/>
          </a:p>
        </p:txBody>
      </p:sp>
      <p:sp>
        <p:nvSpPr>
          <p:cNvPr id="50" name="Text 43"/>
          <p:cNvSpPr/>
          <p:nvPr/>
        </p:nvSpPr>
        <p:spPr>
          <a:xfrm>
            <a:off x="9674352" y="3538728"/>
            <a:ext cx="1819656" cy="201168"/>
          </a:xfrm>
          <a:prstGeom prst="rect">
            <a:avLst/>
          </a:prstGeom>
          <a:noFill/>
          <a:ln/>
        </p:spPr>
        <p:txBody>
          <a:bodyPr wrap="square" lIns="0" tIns="0" rIns="0" bIns="0" rtlCol="0" anchor="ctr">
            <a:normAutofit/>
          </a:bodyPr>
          <a:lstStyle/>
          <a:p>
            <a:pPr marL="0" indent="0">
              <a:buNone/>
            </a:pPr>
            <a:r>
              <a:rPr lang="en-US" sz="1030" dirty="0">
                <a:solidFill>
                  <a:srgbClr val="FFFFFF"/>
                </a:solidFill>
                <a:latin typeface="Aptos" pitchFamily="34" charset="0"/>
                <a:ea typeface="Aptos" pitchFamily="34" charset="-122"/>
                <a:cs typeface="Aptos" pitchFamily="34" charset="-120"/>
              </a:rPr>
              <a:t>Evidence links</a:t>
            </a:r>
            <a:endParaRPr lang="en-US" sz="1030" dirty="0"/>
          </a:p>
        </p:txBody>
      </p:sp>
      <p:sp>
        <p:nvSpPr>
          <p:cNvPr id="51" name="Text 44"/>
          <p:cNvSpPr/>
          <p:nvPr/>
        </p:nvSpPr>
        <p:spPr>
          <a:xfrm>
            <a:off x="9674352" y="3959352"/>
            <a:ext cx="1819656" cy="201168"/>
          </a:xfrm>
          <a:prstGeom prst="rect">
            <a:avLst/>
          </a:prstGeom>
          <a:noFill/>
          <a:ln/>
        </p:spPr>
        <p:txBody>
          <a:bodyPr wrap="square" lIns="0" tIns="0" rIns="0" bIns="0" rtlCol="0" anchor="ctr">
            <a:normAutofit/>
          </a:bodyPr>
          <a:lstStyle/>
          <a:p>
            <a:pPr marL="0" indent="0">
              <a:buNone/>
            </a:pPr>
            <a:r>
              <a:rPr lang="en-US" sz="1030" dirty="0">
                <a:solidFill>
                  <a:srgbClr val="FFFFFF"/>
                </a:solidFill>
                <a:latin typeface="Aptos" pitchFamily="34" charset="0"/>
                <a:ea typeface="Aptos" pitchFamily="34" charset="-122"/>
                <a:cs typeface="Aptos" pitchFamily="34" charset="-120"/>
              </a:rPr>
              <a:t>Change impact</a:t>
            </a:r>
            <a:endParaRPr lang="en-US" sz="1030" dirty="0"/>
          </a:p>
        </p:txBody>
      </p:sp>
      <p:sp>
        <p:nvSpPr>
          <p:cNvPr id="52" name="Text 45"/>
          <p:cNvSpPr/>
          <p:nvPr/>
        </p:nvSpPr>
        <p:spPr>
          <a:xfrm>
            <a:off x="9674352" y="4379976"/>
            <a:ext cx="1819656" cy="201168"/>
          </a:xfrm>
          <a:prstGeom prst="rect">
            <a:avLst/>
          </a:prstGeom>
          <a:noFill/>
          <a:ln/>
        </p:spPr>
        <p:txBody>
          <a:bodyPr wrap="square" lIns="0" tIns="0" rIns="0" bIns="0" rtlCol="0" anchor="ctr">
            <a:normAutofit/>
          </a:bodyPr>
          <a:lstStyle/>
          <a:p>
            <a:pPr marL="0" indent="0">
              <a:buNone/>
            </a:pPr>
            <a:r>
              <a:rPr lang="en-US" sz="1030" dirty="0">
                <a:solidFill>
                  <a:srgbClr val="FFFFFF"/>
                </a:solidFill>
                <a:latin typeface="Aptos" pitchFamily="34" charset="0"/>
                <a:ea typeface="Aptos" pitchFamily="34" charset="-122"/>
                <a:cs typeface="Aptos" pitchFamily="34" charset="-120"/>
              </a:rPr>
              <a:t>Stale-link management</a:t>
            </a:r>
            <a:endParaRPr lang="en-US" sz="1030" dirty="0"/>
          </a:p>
        </p:txBody>
      </p:sp>
      <p:sp>
        <p:nvSpPr>
          <p:cNvPr id="53" name="Shape 46"/>
          <p:cNvSpPr/>
          <p:nvPr/>
        </p:nvSpPr>
        <p:spPr>
          <a:xfrm>
            <a:off x="502920" y="5623560"/>
            <a:ext cx="11201400" cy="594360"/>
          </a:xfrm>
          <a:prstGeom prst="rect">
            <a:avLst/>
          </a:prstGeom>
          <a:solidFill>
            <a:srgbClr val="FBF2D9"/>
          </a:solidFill>
          <a:ln w="10160">
            <a:solidFill>
              <a:srgbClr val="EAD7A3"/>
            </a:solidFill>
            <a:prstDash val="solid"/>
          </a:ln>
        </p:spPr>
        <p:txBody>
          <a:bodyPr/>
          <a:lstStyle/>
          <a:p>
            <a:endParaRPr lang="en-US"/>
          </a:p>
        </p:txBody>
      </p:sp>
      <p:pic>
        <p:nvPicPr>
          <p:cNvPr id="54"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31520" y="5742432"/>
            <a:ext cx="256032" cy="256032"/>
          </a:xfrm>
          <a:prstGeom prst="rect">
            <a:avLst/>
          </a:prstGeom>
        </p:spPr>
      </p:pic>
      <p:sp>
        <p:nvSpPr>
          <p:cNvPr id="55" name="Text 47"/>
          <p:cNvSpPr/>
          <p:nvPr/>
        </p:nvSpPr>
        <p:spPr>
          <a:xfrm>
            <a:off x="1069848" y="5733288"/>
            <a:ext cx="4846320" cy="201168"/>
          </a:xfrm>
          <a:prstGeom prst="rect">
            <a:avLst/>
          </a:prstGeom>
          <a:noFill/>
          <a:ln/>
        </p:spPr>
        <p:txBody>
          <a:bodyPr wrap="square" lIns="0" tIns="0" rIns="0" bIns="0" rtlCol="0" anchor="ctr">
            <a:normAutofit/>
          </a:bodyPr>
          <a:lstStyle/>
          <a:p>
            <a:pPr marL="0" indent="0">
              <a:buNone/>
            </a:pPr>
            <a:r>
              <a:rPr lang="en-US" sz="1250" b="1" dirty="0">
                <a:solidFill>
                  <a:srgbClr val="0C2B3A"/>
                </a:solidFill>
                <a:latin typeface="Aptos" pitchFamily="34" charset="0"/>
                <a:ea typeface="Aptos" pitchFamily="34" charset="-122"/>
                <a:cs typeface="Aptos" pitchFamily="34" charset="-120"/>
              </a:rPr>
              <a:t>AI proposes candidate mappings and explanations. Evidence validates. Owners approve.</a:t>
            </a:r>
            <a:endParaRPr lang="en-US" sz="1250" dirty="0"/>
          </a:p>
        </p:txBody>
      </p:sp>
      <p:sp>
        <p:nvSpPr>
          <p:cNvPr id="56" name="Text 48"/>
          <p:cNvSpPr/>
          <p:nvPr/>
        </p:nvSpPr>
        <p:spPr>
          <a:xfrm>
            <a:off x="6172200" y="5751576"/>
            <a:ext cx="4937760" cy="182880"/>
          </a:xfrm>
          <a:prstGeom prst="rect">
            <a:avLst/>
          </a:prstGeom>
          <a:noFill/>
          <a:ln/>
        </p:spPr>
        <p:txBody>
          <a:bodyPr wrap="square" lIns="0" tIns="0" rIns="0" bIns="0" rtlCol="0" anchor="ctr">
            <a:normAutofit/>
          </a:bodyPr>
          <a:lstStyle/>
          <a:p>
            <a:pPr marL="0" indent="0" algn="r">
              <a:buNone/>
            </a:pPr>
            <a:r>
              <a:rPr lang="en-US" sz="950" dirty="0">
                <a:solidFill>
                  <a:srgbClr val="617481"/>
                </a:solidFill>
                <a:latin typeface="Aptos" pitchFamily="34" charset="0"/>
                <a:ea typeface="Aptos" pitchFamily="34" charset="-122"/>
                <a:cs typeface="Aptos" pitchFamily="34" charset="-120"/>
              </a:rPr>
              <a:t>Use bank-approved runtime; keep uncertainty, rejected suggestions and unresolved gaps visible.</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0E8F8A"/>
          </a:solidFill>
          <a:ln w="12700">
            <a:solidFill>
              <a:srgbClr val="0E8F8A"/>
            </a:solidFill>
            <a:prstDash val="solid"/>
          </a:ln>
        </p:spPr>
        <p:txBody>
          <a:bodyPr/>
          <a:lstStyle/>
          <a:p>
            <a:endParaRPr lang="en-US"/>
          </a:p>
        </p:txBody>
      </p:sp>
      <p:sp>
        <p:nvSpPr>
          <p:cNvPr id="3" name="Text 1"/>
          <p:cNvSpPr/>
          <p:nvPr/>
        </p:nvSpPr>
        <p:spPr>
          <a:xfrm>
            <a:off x="502920" y="320040"/>
            <a:ext cx="6858000" cy="182880"/>
          </a:xfrm>
          <a:prstGeom prst="rect">
            <a:avLst/>
          </a:prstGeom>
          <a:noFill/>
          <a:ln/>
        </p:spPr>
        <p:txBody>
          <a:bodyPr wrap="square" lIns="0" tIns="0" rIns="0" bIns="0" rtlCol="0" anchor="ctr">
            <a:normAutofit/>
          </a:bodyPr>
          <a:lstStyle/>
          <a:p>
            <a:pPr marL="0" indent="0">
              <a:buNone/>
            </a:pPr>
            <a:r>
              <a:rPr lang="en-US" sz="870" b="1" kern="0" spc="170" dirty="0">
                <a:solidFill>
                  <a:srgbClr val="0E8F8A"/>
                </a:solidFill>
                <a:latin typeface="Aptos" pitchFamily="34" charset="0"/>
                <a:ea typeface="Aptos" pitchFamily="34" charset="-122"/>
                <a:cs typeface="Aptos" pitchFamily="34" charset="-120"/>
              </a:rPr>
              <a:t>03 / DELIVERY METHOD</a:t>
            </a:r>
            <a:endParaRPr lang="en-US" sz="870" dirty="0"/>
          </a:p>
        </p:txBody>
      </p:sp>
      <p:sp>
        <p:nvSpPr>
          <p:cNvPr id="4" name="Text 2"/>
          <p:cNvSpPr/>
          <p:nvPr/>
        </p:nvSpPr>
        <p:spPr>
          <a:xfrm>
            <a:off x="502920" y="621792"/>
            <a:ext cx="8869680" cy="502920"/>
          </a:xfrm>
          <a:prstGeom prst="rect">
            <a:avLst/>
          </a:prstGeom>
          <a:noFill/>
          <a:ln/>
        </p:spPr>
        <p:txBody>
          <a:bodyPr wrap="square" lIns="0" tIns="0" rIns="0" bIns="0" rtlCol="0" anchor="ctr">
            <a:normAutofit/>
          </a:bodyPr>
          <a:lstStyle/>
          <a:p>
            <a:pPr marL="0" indent="0">
              <a:buNone/>
            </a:pPr>
            <a:r>
              <a:rPr lang="en-US" sz="2500" b="1" dirty="0">
                <a:solidFill>
                  <a:srgbClr val="0C2B3A"/>
                </a:solidFill>
                <a:latin typeface="Aptos Display" pitchFamily="34" charset="0"/>
                <a:ea typeface="Aptos Display" pitchFamily="34" charset="-122"/>
                <a:cs typeface="Aptos Display" pitchFamily="34" charset="-120"/>
              </a:rPr>
              <a:t>Prove it on one report path — then scale by connector and business ownership</a:t>
            </a:r>
            <a:endParaRPr lang="en-US" sz="2500" dirty="0"/>
          </a:p>
        </p:txBody>
      </p:sp>
      <p:sp>
        <p:nvSpPr>
          <p:cNvPr id="5" name="Text 3"/>
          <p:cNvSpPr/>
          <p:nvPr/>
        </p:nvSpPr>
        <p:spPr>
          <a:xfrm>
            <a:off x="502920" y="1170432"/>
            <a:ext cx="10789920" cy="338328"/>
          </a:xfrm>
          <a:prstGeom prst="rect">
            <a:avLst/>
          </a:prstGeom>
          <a:noFill/>
          <a:ln/>
        </p:spPr>
        <p:txBody>
          <a:bodyPr wrap="square" lIns="0" tIns="0" rIns="0" bIns="0" rtlCol="0" anchor="t">
            <a:normAutofit/>
          </a:bodyPr>
          <a:lstStyle/>
          <a:p>
            <a:pPr marL="0" indent="0">
              <a:buNone/>
            </a:pPr>
            <a:r>
              <a:rPr lang="en-US" sz="1210" dirty="0">
                <a:solidFill>
                  <a:srgbClr val="617481"/>
                </a:solidFill>
                <a:latin typeface="Aptos" pitchFamily="34" charset="0"/>
                <a:ea typeface="Aptos" pitchFamily="34" charset="-122"/>
                <a:cs typeface="Aptos" pitchFamily="34" charset="-120"/>
              </a:rPr>
              <a:t>A scoped pilot establishes the evidence pattern, automation coverage, AI value and operating controls before wider rollout.</a:t>
            </a:r>
            <a:endParaRPr lang="en-US" sz="1210" dirty="0"/>
          </a:p>
        </p:txBody>
      </p:sp>
      <p:sp>
        <p:nvSpPr>
          <p:cNvPr id="6" name="Text 4"/>
          <p:cNvSpPr/>
          <p:nvPr/>
        </p:nvSpPr>
        <p:spPr>
          <a:xfrm>
            <a:off x="502920" y="6528816"/>
            <a:ext cx="5394960" cy="146304"/>
          </a:xfrm>
          <a:prstGeom prst="rect">
            <a:avLst/>
          </a:prstGeom>
          <a:noFill/>
          <a:ln/>
        </p:spPr>
        <p:txBody>
          <a:bodyPr wrap="square" lIns="0" tIns="0" rIns="0" bIns="0" rtlCol="0" anchor="ctr">
            <a:normAutofit/>
          </a:bodyPr>
          <a:lstStyle/>
          <a:p>
            <a:pPr marL="0" indent="0">
              <a:buNone/>
            </a:pPr>
            <a:r>
              <a:rPr lang="en-US" sz="750" dirty="0">
                <a:solidFill>
                  <a:srgbClr val="7B8B94"/>
                </a:solidFill>
                <a:latin typeface="Aptos" pitchFamily="34" charset="0"/>
                <a:ea typeface="Aptos" pitchFamily="34" charset="-122"/>
                <a:cs typeface="Aptos" pitchFamily="34" charset="-120"/>
              </a:rPr>
              <a:t>BCBS239 LINEAGE INDUSTRIALISATION  |  DISCUSSION PROPOSAL</a:t>
            </a:r>
            <a:endParaRPr lang="en-US" sz="750" dirty="0"/>
          </a:p>
        </p:txBody>
      </p:sp>
      <p:sp>
        <p:nvSpPr>
          <p:cNvPr id="7" name="Text 5"/>
          <p:cNvSpPr/>
          <p:nvPr/>
        </p:nvSpPr>
        <p:spPr>
          <a:xfrm>
            <a:off x="11384280" y="6510528"/>
            <a:ext cx="274320" cy="164592"/>
          </a:xfrm>
          <a:prstGeom prst="rect">
            <a:avLst/>
          </a:prstGeom>
          <a:noFill/>
          <a:ln/>
        </p:spPr>
        <p:txBody>
          <a:bodyPr wrap="square" lIns="0" tIns="0" rIns="0" bIns="0" rtlCol="0" anchor="ctr">
            <a:normAutofit/>
          </a:bodyPr>
          <a:lstStyle/>
          <a:p>
            <a:pPr marL="0" indent="0" algn="r">
              <a:buNone/>
            </a:pPr>
            <a:r>
              <a:rPr lang="en-US" sz="800" b="1" dirty="0">
                <a:solidFill>
                  <a:srgbClr val="0E8F8A"/>
                </a:solidFill>
                <a:latin typeface="Aptos" pitchFamily="34" charset="0"/>
                <a:ea typeface="Aptos" pitchFamily="34" charset="-122"/>
                <a:cs typeface="Aptos" pitchFamily="34" charset="-120"/>
              </a:rPr>
              <a:t>03</a:t>
            </a:r>
            <a:endParaRPr lang="en-US" sz="800" dirty="0"/>
          </a:p>
        </p:txBody>
      </p:sp>
      <p:sp>
        <p:nvSpPr>
          <p:cNvPr id="8" name="Shape 6"/>
          <p:cNvSpPr/>
          <p:nvPr/>
        </p:nvSpPr>
        <p:spPr>
          <a:xfrm>
            <a:off x="502920" y="1783080"/>
            <a:ext cx="2057400" cy="1280160"/>
          </a:xfrm>
          <a:prstGeom prst="roundRect">
            <a:avLst>
              <a:gd name="adj" fmla="val 5714"/>
            </a:avLst>
          </a:prstGeom>
          <a:solidFill>
            <a:srgbClr val="FFFFFF"/>
          </a:solidFill>
          <a:ln w="10160">
            <a:solidFill>
              <a:srgbClr val="D8E4EA"/>
            </a:solidFill>
            <a:prstDash val="solid"/>
          </a:ln>
          <a:effectLst>
            <a:outerShdw blurRad="16510" dist="7620" dir="2700000" algn="bl" rotWithShape="0">
              <a:srgbClr val="0C2B3A">
                <a:alpha val="12000"/>
              </a:srgbClr>
            </a:outerShdw>
          </a:effectLst>
        </p:spPr>
        <p:txBody>
          <a:bodyPr/>
          <a:lstStyle/>
          <a:p>
            <a:endParaRPr lang="en-US"/>
          </a:p>
        </p:txBody>
      </p:sp>
      <p:sp>
        <p:nvSpPr>
          <p:cNvPr id="9" name="Text 7"/>
          <p:cNvSpPr/>
          <p:nvPr/>
        </p:nvSpPr>
        <p:spPr>
          <a:xfrm>
            <a:off x="667512" y="1956816"/>
            <a:ext cx="411480" cy="182880"/>
          </a:xfrm>
          <a:prstGeom prst="rect">
            <a:avLst/>
          </a:prstGeom>
          <a:noFill/>
          <a:ln/>
        </p:spPr>
        <p:txBody>
          <a:bodyPr wrap="square" lIns="0" tIns="0" rIns="0" bIns="0" rtlCol="0" anchor="ctr">
            <a:normAutofit/>
          </a:bodyPr>
          <a:lstStyle/>
          <a:p>
            <a:pPr marL="0" indent="0">
              <a:buNone/>
            </a:pPr>
            <a:r>
              <a:rPr lang="en-US" sz="1200" b="1" dirty="0">
                <a:solidFill>
                  <a:srgbClr val="0E8F8A"/>
                </a:solidFill>
                <a:latin typeface="Aptos" pitchFamily="34" charset="0"/>
                <a:ea typeface="Aptos" pitchFamily="34" charset="-122"/>
                <a:cs typeface="Aptos" pitchFamily="34" charset="-120"/>
              </a:rPr>
              <a:t>01</a:t>
            </a:r>
            <a:endParaRPr lang="en-US" sz="1200" dirty="0"/>
          </a:p>
        </p:txBody>
      </p:sp>
      <p:sp>
        <p:nvSpPr>
          <p:cNvPr id="10" name="Text 8"/>
          <p:cNvSpPr/>
          <p:nvPr/>
        </p:nvSpPr>
        <p:spPr>
          <a:xfrm>
            <a:off x="667512" y="2240280"/>
            <a:ext cx="1691640" cy="274320"/>
          </a:xfrm>
          <a:prstGeom prst="rect">
            <a:avLst/>
          </a:prstGeom>
          <a:noFill/>
          <a:ln/>
        </p:spPr>
        <p:txBody>
          <a:bodyPr wrap="square" lIns="0" tIns="0" rIns="0" bIns="0" rtlCol="0" anchor="ctr">
            <a:normAutofit/>
          </a:bodyPr>
          <a:lstStyle/>
          <a:p>
            <a:pPr marL="0" indent="0">
              <a:buNone/>
            </a:pPr>
            <a:r>
              <a:rPr lang="en-US" sz="1550" b="1" dirty="0">
                <a:solidFill>
                  <a:srgbClr val="0C2B3A"/>
                </a:solidFill>
                <a:latin typeface="Aptos" pitchFamily="34" charset="0"/>
                <a:ea typeface="Aptos" pitchFamily="34" charset="-122"/>
                <a:cs typeface="Aptos" pitchFamily="34" charset="-120"/>
              </a:rPr>
              <a:t>Scope</a:t>
            </a:r>
            <a:endParaRPr lang="en-US" sz="1550" dirty="0"/>
          </a:p>
        </p:txBody>
      </p:sp>
      <p:sp>
        <p:nvSpPr>
          <p:cNvPr id="11" name="Text 9"/>
          <p:cNvSpPr/>
          <p:nvPr/>
        </p:nvSpPr>
        <p:spPr>
          <a:xfrm>
            <a:off x="667512" y="2596896"/>
            <a:ext cx="1691640" cy="301752"/>
          </a:xfrm>
          <a:prstGeom prst="rect">
            <a:avLst/>
          </a:prstGeom>
          <a:noFill/>
          <a:ln/>
        </p:spPr>
        <p:txBody>
          <a:bodyPr wrap="square" lIns="0" tIns="0" rIns="0" bIns="0" rtlCol="0" anchor="t">
            <a:normAutofit/>
          </a:bodyPr>
          <a:lstStyle/>
          <a:p>
            <a:pPr marL="0" indent="0">
              <a:buNone/>
            </a:pPr>
            <a:r>
              <a:rPr lang="en-US" sz="885" dirty="0">
                <a:solidFill>
                  <a:srgbClr val="617481"/>
                </a:solidFill>
                <a:latin typeface="Aptos" pitchFamily="34" charset="0"/>
                <a:ea typeface="Aptos" pitchFamily="34" charset="-122"/>
                <a:cs typeface="Aptos" pitchFamily="34" charset="-120"/>
              </a:rPr>
              <a:t>Select report section, CDEs, countries and HQ aggregation path.</a:t>
            </a:r>
            <a:endParaRPr lang="en-US" sz="885" dirty="0"/>
          </a:p>
        </p:txBody>
      </p:sp>
      <p:sp>
        <p:nvSpPr>
          <p:cNvPr id="12" name="Shape 10"/>
          <p:cNvSpPr/>
          <p:nvPr/>
        </p:nvSpPr>
        <p:spPr>
          <a:xfrm>
            <a:off x="2578608" y="2423160"/>
            <a:ext cx="192024" cy="0"/>
          </a:xfrm>
          <a:prstGeom prst="line">
            <a:avLst/>
          </a:prstGeom>
          <a:noFill/>
          <a:ln w="13970">
            <a:solidFill>
              <a:srgbClr val="9CB9C3"/>
            </a:solidFill>
            <a:prstDash val="solid"/>
            <a:headEnd type="none"/>
            <a:tailEnd type="triangle"/>
          </a:ln>
        </p:spPr>
        <p:txBody>
          <a:bodyPr/>
          <a:lstStyle/>
          <a:p>
            <a:endParaRPr lang="en-US"/>
          </a:p>
        </p:txBody>
      </p:sp>
      <p:sp>
        <p:nvSpPr>
          <p:cNvPr id="13" name="Shape 11"/>
          <p:cNvSpPr/>
          <p:nvPr/>
        </p:nvSpPr>
        <p:spPr>
          <a:xfrm>
            <a:off x="2807208" y="1783080"/>
            <a:ext cx="2057400" cy="1280160"/>
          </a:xfrm>
          <a:prstGeom prst="roundRect">
            <a:avLst>
              <a:gd name="adj" fmla="val 5714"/>
            </a:avLst>
          </a:prstGeom>
          <a:solidFill>
            <a:srgbClr val="FFFFFF"/>
          </a:solidFill>
          <a:ln w="10160">
            <a:solidFill>
              <a:srgbClr val="D8E4EA"/>
            </a:solidFill>
            <a:prstDash val="solid"/>
          </a:ln>
          <a:effectLst>
            <a:outerShdw blurRad="16510" dist="7620" dir="2700000" algn="bl" rotWithShape="0">
              <a:srgbClr val="0C2B3A">
                <a:alpha val="12000"/>
              </a:srgbClr>
            </a:outerShdw>
          </a:effectLst>
        </p:spPr>
        <p:txBody>
          <a:bodyPr/>
          <a:lstStyle/>
          <a:p>
            <a:endParaRPr lang="en-US"/>
          </a:p>
        </p:txBody>
      </p:sp>
      <p:sp>
        <p:nvSpPr>
          <p:cNvPr id="14" name="Text 12"/>
          <p:cNvSpPr/>
          <p:nvPr/>
        </p:nvSpPr>
        <p:spPr>
          <a:xfrm>
            <a:off x="2971800" y="1956816"/>
            <a:ext cx="411480" cy="182880"/>
          </a:xfrm>
          <a:prstGeom prst="rect">
            <a:avLst/>
          </a:prstGeom>
          <a:noFill/>
          <a:ln/>
        </p:spPr>
        <p:txBody>
          <a:bodyPr wrap="square" lIns="0" tIns="0" rIns="0" bIns="0" rtlCol="0" anchor="ctr">
            <a:normAutofit/>
          </a:bodyPr>
          <a:lstStyle/>
          <a:p>
            <a:pPr marL="0" indent="0">
              <a:buNone/>
            </a:pPr>
            <a:r>
              <a:rPr lang="en-US" sz="1200" b="1" dirty="0">
                <a:solidFill>
                  <a:srgbClr val="0E8F8A"/>
                </a:solidFill>
                <a:latin typeface="Aptos" pitchFamily="34" charset="0"/>
                <a:ea typeface="Aptos" pitchFamily="34" charset="-122"/>
                <a:cs typeface="Aptos" pitchFamily="34" charset="-120"/>
              </a:rPr>
              <a:t>02</a:t>
            </a:r>
            <a:endParaRPr lang="en-US" sz="1200" dirty="0"/>
          </a:p>
        </p:txBody>
      </p:sp>
      <p:sp>
        <p:nvSpPr>
          <p:cNvPr id="15" name="Text 13"/>
          <p:cNvSpPr/>
          <p:nvPr/>
        </p:nvSpPr>
        <p:spPr>
          <a:xfrm>
            <a:off x="2971800" y="2240280"/>
            <a:ext cx="1691640" cy="274320"/>
          </a:xfrm>
          <a:prstGeom prst="rect">
            <a:avLst/>
          </a:prstGeom>
          <a:noFill/>
          <a:ln/>
        </p:spPr>
        <p:txBody>
          <a:bodyPr wrap="square" lIns="0" tIns="0" rIns="0" bIns="0" rtlCol="0" anchor="ctr">
            <a:normAutofit/>
          </a:bodyPr>
          <a:lstStyle/>
          <a:p>
            <a:pPr marL="0" indent="0">
              <a:buNone/>
            </a:pPr>
            <a:r>
              <a:rPr lang="en-US" sz="1550" b="1" dirty="0">
                <a:solidFill>
                  <a:srgbClr val="0C2B3A"/>
                </a:solidFill>
                <a:latin typeface="Aptos" pitchFamily="34" charset="0"/>
                <a:ea typeface="Aptos" pitchFamily="34" charset="-122"/>
                <a:cs typeface="Aptos" pitchFamily="34" charset="-120"/>
              </a:rPr>
              <a:t>Extract</a:t>
            </a:r>
            <a:endParaRPr lang="en-US" sz="1550" dirty="0"/>
          </a:p>
        </p:txBody>
      </p:sp>
      <p:sp>
        <p:nvSpPr>
          <p:cNvPr id="16" name="Text 14"/>
          <p:cNvSpPr/>
          <p:nvPr/>
        </p:nvSpPr>
        <p:spPr>
          <a:xfrm>
            <a:off x="2971800" y="2596896"/>
            <a:ext cx="1691640" cy="301752"/>
          </a:xfrm>
          <a:prstGeom prst="rect">
            <a:avLst/>
          </a:prstGeom>
          <a:noFill/>
          <a:ln/>
        </p:spPr>
        <p:txBody>
          <a:bodyPr wrap="square" lIns="0" tIns="0" rIns="0" bIns="0" rtlCol="0" anchor="t">
            <a:normAutofit/>
          </a:bodyPr>
          <a:lstStyle/>
          <a:p>
            <a:pPr marL="0" indent="0">
              <a:buNone/>
            </a:pPr>
            <a:r>
              <a:rPr lang="en-US" sz="885" dirty="0">
                <a:solidFill>
                  <a:srgbClr val="617481"/>
                </a:solidFill>
                <a:latin typeface="Aptos" pitchFamily="34" charset="0"/>
                <a:ea typeface="Aptos" pitchFamily="34" charset="-122"/>
                <a:cs typeface="Aptos" pitchFamily="34" charset="-120"/>
              </a:rPr>
              <a:t>Run connectors/parsers; build adapters where native extraction fails.</a:t>
            </a:r>
            <a:endParaRPr lang="en-US" sz="885" dirty="0"/>
          </a:p>
        </p:txBody>
      </p:sp>
      <p:sp>
        <p:nvSpPr>
          <p:cNvPr id="17" name="Shape 15"/>
          <p:cNvSpPr/>
          <p:nvPr/>
        </p:nvSpPr>
        <p:spPr>
          <a:xfrm>
            <a:off x="4882896" y="2423160"/>
            <a:ext cx="192024" cy="0"/>
          </a:xfrm>
          <a:prstGeom prst="line">
            <a:avLst/>
          </a:prstGeom>
          <a:noFill/>
          <a:ln w="13970">
            <a:solidFill>
              <a:srgbClr val="9CB9C3"/>
            </a:solidFill>
            <a:prstDash val="solid"/>
            <a:headEnd type="none"/>
            <a:tailEnd type="triangle"/>
          </a:ln>
        </p:spPr>
        <p:txBody>
          <a:bodyPr/>
          <a:lstStyle/>
          <a:p>
            <a:endParaRPr lang="en-US"/>
          </a:p>
        </p:txBody>
      </p:sp>
      <p:sp>
        <p:nvSpPr>
          <p:cNvPr id="18" name="Shape 16"/>
          <p:cNvSpPr/>
          <p:nvPr/>
        </p:nvSpPr>
        <p:spPr>
          <a:xfrm>
            <a:off x="5111496" y="1783080"/>
            <a:ext cx="2057400" cy="1280160"/>
          </a:xfrm>
          <a:prstGeom prst="roundRect">
            <a:avLst>
              <a:gd name="adj" fmla="val 5714"/>
            </a:avLst>
          </a:prstGeom>
          <a:solidFill>
            <a:srgbClr val="FBF2D9"/>
          </a:solidFill>
          <a:ln w="10160">
            <a:solidFill>
              <a:srgbClr val="EAD7A3"/>
            </a:solidFill>
            <a:prstDash val="solid"/>
          </a:ln>
          <a:effectLst>
            <a:outerShdw blurRad="16510" dist="7620" dir="2700000" algn="bl" rotWithShape="0">
              <a:srgbClr val="0C2B3A">
                <a:alpha val="12000"/>
              </a:srgbClr>
            </a:outerShdw>
          </a:effectLst>
        </p:spPr>
        <p:txBody>
          <a:bodyPr/>
          <a:lstStyle/>
          <a:p>
            <a:endParaRPr lang="en-US"/>
          </a:p>
        </p:txBody>
      </p:sp>
      <p:sp>
        <p:nvSpPr>
          <p:cNvPr id="19" name="Text 17"/>
          <p:cNvSpPr/>
          <p:nvPr/>
        </p:nvSpPr>
        <p:spPr>
          <a:xfrm>
            <a:off x="5276088" y="1956816"/>
            <a:ext cx="411480" cy="182880"/>
          </a:xfrm>
          <a:prstGeom prst="rect">
            <a:avLst/>
          </a:prstGeom>
          <a:noFill/>
          <a:ln/>
        </p:spPr>
        <p:txBody>
          <a:bodyPr wrap="square" lIns="0" tIns="0" rIns="0" bIns="0" rtlCol="0" anchor="ctr">
            <a:normAutofit/>
          </a:bodyPr>
          <a:lstStyle/>
          <a:p>
            <a:pPr marL="0" indent="0">
              <a:buNone/>
            </a:pPr>
            <a:r>
              <a:rPr lang="en-US" sz="1200" b="1" dirty="0">
                <a:solidFill>
                  <a:srgbClr val="D59A3A"/>
                </a:solidFill>
                <a:latin typeface="Aptos" pitchFamily="34" charset="0"/>
                <a:ea typeface="Aptos" pitchFamily="34" charset="-122"/>
                <a:cs typeface="Aptos" pitchFamily="34" charset="-120"/>
              </a:rPr>
              <a:t>03</a:t>
            </a:r>
            <a:endParaRPr lang="en-US" sz="1200" dirty="0"/>
          </a:p>
        </p:txBody>
      </p:sp>
      <p:sp>
        <p:nvSpPr>
          <p:cNvPr id="20" name="Text 18"/>
          <p:cNvSpPr/>
          <p:nvPr/>
        </p:nvSpPr>
        <p:spPr>
          <a:xfrm>
            <a:off x="5276088" y="2240280"/>
            <a:ext cx="1691640" cy="274320"/>
          </a:xfrm>
          <a:prstGeom prst="rect">
            <a:avLst/>
          </a:prstGeom>
          <a:noFill/>
          <a:ln/>
        </p:spPr>
        <p:txBody>
          <a:bodyPr wrap="square" lIns="0" tIns="0" rIns="0" bIns="0" rtlCol="0" anchor="ctr">
            <a:normAutofit/>
          </a:bodyPr>
          <a:lstStyle/>
          <a:p>
            <a:pPr marL="0" indent="0">
              <a:buNone/>
            </a:pPr>
            <a:r>
              <a:rPr lang="en-US" sz="1550" b="1" dirty="0">
                <a:solidFill>
                  <a:srgbClr val="0C2B3A"/>
                </a:solidFill>
                <a:latin typeface="Aptos" pitchFamily="34" charset="0"/>
                <a:ea typeface="Aptos" pitchFamily="34" charset="-122"/>
                <a:cs typeface="Aptos" pitchFamily="34" charset="-120"/>
              </a:rPr>
              <a:t>Assist</a:t>
            </a:r>
            <a:endParaRPr lang="en-US" sz="1550" dirty="0"/>
          </a:p>
        </p:txBody>
      </p:sp>
      <p:sp>
        <p:nvSpPr>
          <p:cNvPr id="21" name="Text 19"/>
          <p:cNvSpPr/>
          <p:nvPr/>
        </p:nvSpPr>
        <p:spPr>
          <a:xfrm>
            <a:off x="5276088" y="2596896"/>
            <a:ext cx="1691640" cy="301752"/>
          </a:xfrm>
          <a:prstGeom prst="rect">
            <a:avLst/>
          </a:prstGeom>
          <a:noFill/>
          <a:ln/>
        </p:spPr>
        <p:txBody>
          <a:bodyPr wrap="square" lIns="0" tIns="0" rIns="0" bIns="0" rtlCol="0" anchor="t">
            <a:normAutofit/>
          </a:bodyPr>
          <a:lstStyle/>
          <a:p>
            <a:pPr marL="0" indent="0">
              <a:buNone/>
            </a:pPr>
            <a:r>
              <a:rPr lang="en-US" sz="885" dirty="0">
                <a:solidFill>
                  <a:srgbClr val="617481"/>
                </a:solidFill>
                <a:latin typeface="Aptos" pitchFamily="34" charset="0"/>
                <a:ea typeface="Aptos" pitchFamily="34" charset="-122"/>
                <a:cs typeface="Aptos" pitchFamily="34" charset="-120"/>
              </a:rPr>
              <a:t>Use AI for dictionary-to-field matching and legacy-code explanation.</a:t>
            </a:r>
            <a:endParaRPr lang="en-US" sz="885" dirty="0"/>
          </a:p>
        </p:txBody>
      </p:sp>
      <p:sp>
        <p:nvSpPr>
          <p:cNvPr id="22" name="Shape 20"/>
          <p:cNvSpPr/>
          <p:nvPr/>
        </p:nvSpPr>
        <p:spPr>
          <a:xfrm>
            <a:off x="7187184" y="2423160"/>
            <a:ext cx="192024" cy="0"/>
          </a:xfrm>
          <a:prstGeom prst="line">
            <a:avLst/>
          </a:prstGeom>
          <a:noFill/>
          <a:ln w="13970">
            <a:solidFill>
              <a:srgbClr val="9CB9C3"/>
            </a:solidFill>
            <a:prstDash val="solid"/>
            <a:headEnd type="none"/>
            <a:tailEnd type="triangle"/>
          </a:ln>
        </p:spPr>
        <p:txBody>
          <a:bodyPr/>
          <a:lstStyle/>
          <a:p>
            <a:endParaRPr lang="en-US"/>
          </a:p>
        </p:txBody>
      </p:sp>
      <p:sp>
        <p:nvSpPr>
          <p:cNvPr id="23" name="Shape 21"/>
          <p:cNvSpPr/>
          <p:nvPr/>
        </p:nvSpPr>
        <p:spPr>
          <a:xfrm>
            <a:off x="7415784" y="1783080"/>
            <a:ext cx="2057400" cy="1280160"/>
          </a:xfrm>
          <a:prstGeom prst="roundRect">
            <a:avLst>
              <a:gd name="adj" fmla="val 5714"/>
            </a:avLst>
          </a:prstGeom>
          <a:solidFill>
            <a:srgbClr val="FFFFFF"/>
          </a:solidFill>
          <a:ln w="10160">
            <a:solidFill>
              <a:srgbClr val="D8E4EA"/>
            </a:solidFill>
            <a:prstDash val="solid"/>
          </a:ln>
          <a:effectLst>
            <a:outerShdw blurRad="16510" dist="7620" dir="2700000" algn="bl" rotWithShape="0">
              <a:srgbClr val="0C2B3A">
                <a:alpha val="12000"/>
              </a:srgbClr>
            </a:outerShdw>
          </a:effectLst>
        </p:spPr>
        <p:txBody>
          <a:bodyPr/>
          <a:lstStyle/>
          <a:p>
            <a:endParaRPr lang="en-US"/>
          </a:p>
        </p:txBody>
      </p:sp>
      <p:sp>
        <p:nvSpPr>
          <p:cNvPr id="24" name="Text 22"/>
          <p:cNvSpPr/>
          <p:nvPr/>
        </p:nvSpPr>
        <p:spPr>
          <a:xfrm>
            <a:off x="7580376" y="1956816"/>
            <a:ext cx="411480" cy="182880"/>
          </a:xfrm>
          <a:prstGeom prst="rect">
            <a:avLst/>
          </a:prstGeom>
          <a:noFill/>
          <a:ln/>
        </p:spPr>
        <p:txBody>
          <a:bodyPr wrap="square" lIns="0" tIns="0" rIns="0" bIns="0" rtlCol="0" anchor="ctr">
            <a:normAutofit/>
          </a:bodyPr>
          <a:lstStyle/>
          <a:p>
            <a:pPr marL="0" indent="0">
              <a:buNone/>
            </a:pPr>
            <a:r>
              <a:rPr lang="en-US" sz="1200" b="1" dirty="0">
                <a:solidFill>
                  <a:srgbClr val="0E8F8A"/>
                </a:solidFill>
                <a:latin typeface="Aptos" pitchFamily="34" charset="0"/>
                <a:ea typeface="Aptos" pitchFamily="34" charset="-122"/>
                <a:cs typeface="Aptos" pitchFamily="34" charset="-120"/>
              </a:rPr>
              <a:t>04</a:t>
            </a:r>
            <a:endParaRPr lang="en-US" sz="1200" dirty="0"/>
          </a:p>
        </p:txBody>
      </p:sp>
      <p:sp>
        <p:nvSpPr>
          <p:cNvPr id="25" name="Text 23"/>
          <p:cNvSpPr/>
          <p:nvPr/>
        </p:nvSpPr>
        <p:spPr>
          <a:xfrm>
            <a:off x="7580376" y="2240280"/>
            <a:ext cx="1691640" cy="274320"/>
          </a:xfrm>
          <a:prstGeom prst="rect">
            <a:avLst/>
          </a:prstGeom>
          <a:noFill/>
          <a:ln/>
        </p:spPr>
        <p:txBody>
          <a:bodyPr wrap="square" lIns="0" tIns="0" rIns="0" bIns="0" rtlCol="0" anchor="ctr">
            <a:normAutofit/>
          </a:bodyPr>
          <a:lstStyle/>
          <a:p>
            <a:pPr marL="0" indent="0">
              <a:buNone/>
            </a:pPr>
            <a:r>
              <a:rPr lang="en-US" sz="1550" b="1" dirty="0">
                <a:solidFill>
                  <a:srgbClr val="0C2B3A"/>
                </a:solidFill>
                <a:latin typeface="Aptos" pitchFamily="34" charset="0"/>
                <a:ea typeface="Aptos" pitchFamily="34" charset="-122"/>
                <a:cs typeface="Aptos" pitchFamily="34" charset="-120"/>
              </a:rPr>
              <a:t>Validate</a:t>
            </a:r>
            <a:endParaRPr lang="en-US" sz="1550" dirty="0"/>
          </a:p>
        </p:txBody>
      </p:sp>
      <p:sp>
        <p:nvSpPr>
          <p:cNvPr id="26" name="Text 24"/>
          <p:cNvSpPr/>
          <p:nvPr/>
        </p:nvSpPr>
        <p:spPr>
          <a:xfrm>
            <a:off x="7580376" y="2596896"/>
            <a:ext cx="1691640" cy="301752"/>
          </a:xfrm>
          <a:prstGeom prst="rect">
            <a:avLst/>
          </a:prstGeom>
          <a:noFill/>
          <a:ln/>
        </p:spPr>
        <p:txBody>
          <a:bodyPr wrap="square" lIns="0" tIns="0" rIns="0" bIns="0" rtlCol="0" anchor="t">
            <a:normAutofit/>
          </a:bodyPr>
          <a:lstStyle/>
          <a:p>
            <a:pPr marL="0" indent="0">
              <a:buNone/>
            </a:pPr>
            <a:r>
              <a:rPr lang="en-US" sz="885" dirty="0">
                <a:solidFill>
                  <a:srgbClr val="617481"/>
                </a:solidFill>
                <a:latin typeface="Aptos" pitchFamily="34" charset="0"/>
                <a:ea typeface="Aptos" pitchFamily="34" charset="-122"/>
                <a:cs typeface="Aptos" pitchFamily="34" charset="-120"/>
              </a:rPr>
              <a:t>Check code/config/log evidence, reconcile values and obtain owner approval.</a:t>
            </a:r>
            <a:endParaRPr lang="en-US" sz="885" dirty="0"/>
          </a:p>
        </p:txBody>
      </p:sp>
      <p:sp>
        <p:nvSpPr>
          <p:cNvPr id="27" name="Shape 25"/>
          <p:cNvSpPr/>
          <p:nvPr/>
        </p:nvSpPr>
        <p:spPr>
          <a:xfrm>
            <a:off x="9491472" y="2423160"/>
            <a:ext cx="192024" cy="0"/>
          </a:xfrm>
          <a:prstGeom prst="line">
            <a:avLst/>
          </a:prstGeom>
          <a:noFill/>
          <a:ln w="13970">
            <a:solidFill>
              <a:srgbClr val="9CB9C3"/>
            </a:solidFill>
            <a:prstDash val="solid"/>
            <a:headEnd type="none"/>
            <a:tailEnd type="triangle"/>
          </a:ln>
        </p:spPr>
        <p:txBody>
          <a:bodyPr/>
          <a:lstStyle/>
          <a:p>
            <a:endParaRPr lang="en-US"/>
          </a:p>
        </p:txBody>
      </p:sp>
      <p:sp>
        <p:nvSpPr>
          <p:cNvPr id="28" name="Shape 26"/>
          <p:cNvSpPr/>
          <p:nvPr/>
        </p:nvSpPr>
        <p:spPr>
          <a:xfrm>
            <a:off x="9720072" y="1783080"/>
            <a:ext cx="2057400" cy="1280160"/>
          </a:xfrm>
          <a:prstGeom prst="roundRect">
            <a:avLst>
              <a:gd name="adj" fmla="val 5714"/>
            </a:avLst>
          </a:prstGeom>
          <a:solidFill>
            <a:srgbClr val="FFFFFF"/>
          </a:solidFill>
          <a:ln w="10160">
            <a:solidFill>
              <a:srgbClr val="D8E4EA"/>
            </a:solidFill>
            <a:prstDash val="solid"/>
          </a:ln>
          <a:effectLst>
            <a:outerShdw blurRad="16510" dist="7620" dir="2700000" algn="bl" rotWithShape="0">
              <a:srgbClr val="0C2B3A">
                <a:alpha val="12000"/>
              </a:srgbClr>
            </a:outerShdw>
          </a:effectLst>
        </p:spPr>
        <p:txBody>
          <a:bodyPr/>
          <a:lstStyle/>
          <a:p>
            <a:endParaRPr lang="en-US"/>
          </a:p>
        </p:txBody>
      </p:sp>
      <p:sp>
        <p:nvSpPr>
          <p:cNvPr id="29" name="Text 27"/>
          <p:cNvSpPr/>
          <p:nvPr/>
        </p:nvSpPr>
        <p:spPr>
          <a:xfrm>
            <a:off x="9884664" y="1956816"/>
            <a:ext cx="411480" cy="182880"/>
          </a:xfrm>
          <a:prstGeom prst="rect">
            <a:avLst/>
          </a:prstGeom>
          <a:noFill/>
          <a:ln/>
        </p:spPr>
        <p:txBody>
          <a:bodyPr wrap="square" lIns="0" tIns="0" rIns="0" bIns="0" rtlCol="0" anchor="ctr">
            <a:normAutofit/>
          </a:bodyPr>
          <a:lstStyle/>
          <a:p>
            <a:pPr marL="0" indent="0">
              <a:buNone/>
            </a:pPr>
            <a:r>
              <a:rPr lang="en-US" sz="1200" b="1" dirty="0">
                <a:solidFill>
                  <a:srgbClr val="0E8F8A"/>
                </a:solidFill>
                <a:latin typeface="Aptos" pitchFamily="34" charset="0"/>
                <a:ea typeface="Aptos" pitchFamily="34" charset="-122"/>
                <a:cs typeface="Aptos" pitchFamily="34" charset="-120"/>
              </a:rPr>
              <a:t>05</a:t>
            </a:r>
            <a:endParaRPr lang="en-US" sz="1200" dirty="0"/>
          </a:p>
        </p:txBody>
      </p:sp>
      <p:sp>
        <p:nvSpPr>
          <p:cNvPr id="30" name="Text 28"/>
          <p:cNvSpPr/>
          <p:nvPr/>
        </p:nvSpPr>
        <p:spPr>
          <a:xfrm>
            <a:off x="9884664" y="2240280"/>
            <a:ext cx="1691640" cy="274320"/>
          </a:xfrm>
          <a:prstGeom prst="rect">
            <a:avLst/>
          </a:prstGeom>
          <a:noFill/>
          <a:ln/>
        </p:spPr>
        <p:txBody>
          <a:bodyPr wrap="square" lIns="0" tIns="0" rIns="0" bIns="0" rtlCol="0" anchor="ctr">
            <a:normAutofit/>
          </a:bodyPr>
          <a:lstStyle/>
          <a:p>
            <a:pPr marL="0" indent="0">
              <a:buNone/>
            </a:pPr>
            <a:r>
              <a:rPr lang="en-US" sz="1550" b="1" dirty="0">
                <a:solidFill>
                  <a:srgbClr val="0C2B3A"/>
                </a:solidFill>
                <a:latin typeface="Aptos" pitchFamily="34" charset="0"/>
                <a:ea typeface="Aptos" pitchFamily="34" charset="-122"/>
                <a:cs typeface="Aptos" pitchFamily="34" charset="-120"/>
              </a:rPr>
              <a:t>Publish</a:t>
            </a:r>
            <a:endParaRPr lang="en-US" sz="1550" dirty="0"/>
          </a:p>
        </p:txBody>
      </p:sp>
      <p:sp>
        <p:nvSpPr>
          <p:cNvPr id="31" name="Text 29"/>
          <p:cNvSpPr/>
          <p:nvPr/>
        </p:nvSpPr>
        <p:spPr>
          <a:xfrm>
            <a:off x="9884664" y="2596896"/>
            <a:ext cx="1691640" cy="301752"/>
          </a:xfrm>
          <a:prstGeom prst="rect">
            <a:avLst/>
          </a:prstGeom>
          <a:noFill/>
          <a:ln/>
        </p:spPr>
        <p:txBody>
          <a:bodyPr wrap="square" lIns="0" tIns="0" rIns="0" bIns="0" rtlCol="0" anchor="t">
            <a:normAutofit/>
          </a:bodyPr>
          <a:lstStyle/>
          <a:p>
            <a:pPr marL="0" indent="0">
              <a:buNone/>
            </a:pPr>
            <a:r>
              <a:rPr lang="en-US" sz="885" dirty="0">
                <a:solidFill>
                  <a:srgbClr val="617481"/>
                </a:solidFill>
                <a:latin typeface="Aptos" pitchFamily="34" charset="0"/>
                <a:ea typeface="Aptos" pitchFamily="34" charset="-122"/>
                <a:cs typeface="Aptos" pitchFamily="34" charset="-120"/>
              </a:rPr>
              <a:t>Load approved links, status and evidence into DataHub/current catalog.</a:t>
            </a:r>
            <a:endParaRPr lang="en-US" sz="885" dirty="0"/>
          </a:p>
        </p:txBody>
      </p:sp>
      <p:sp>
        <p:nvSpPr>
          <p:cNvPr id="32" name="Text 30"/>
          <p:cNvSpPr/>
          <p:nvPr/>
        </p:nvSpPr>
        <p:spPr>
          <a:xfrm>
            <a:off x="502920" y="3429000"/>
            <a:ext cx="2743200" cy="182880"/>
          </a:xfrm>
          <a:prstGeom prst="rect">
            <a:avLst/>
          </a:prstGeom>
          <a:noFill/>
          <a:ln/>
        </p:spPr>
        <p:txBody>
          <a:bodyPr wrap="square" lIns="0" tIns="0" rIns="0" bIns="0" rtlCol="0" anchor="ctr">
            <a:normAutofit/>
          </a:bodyPr>
          <a:lstStyle/>
          <a:p>
            <a:pPr marL="0" indent="0">
              <a:buNone/>
            </a:pPr>
            <a:r>
              <a:rPr lang="en-US" sz="870" b="1" kern="0" spc="170" dirty="0">
                <a:solidFill>
                  <a:srgbClr val="0E8F8A"/>
                </a:solidFill>
                <a:latin typeface="Aptos" pitchFamily="34" charset="0"/>
                <a:ea typeface="Aptos" pitchFamily="34" charset="-122"/>
                <a:cs typeface="Aptos" pitchFamily="34" charset="-120"/>
              </a:rPr>
              <a:t>ILLUSTRATIVE TRACE</a:t>
            </a:r>
            <a:endParaRPr lang="en-US" sz="870" dirty="0"/>
          </a:p>
        </p:txBody>
      </p:sp>
      <p:sp>
        <p:nvSpPr>
          <p:cNvPr id="33" name="Shape 31"/>
          <p:cNvSpPr/>
          <p:nvPr/>
        </p:nvSpPr>
        <p:spPr>
          <a:xfrm>
            <a:off x="502920" y="3758184"/>
            <a:ext cx="1508760" cy="676656"/>
          </a:xfrm>
          <a:prstGeom prst="roundRect">
            <a:avLst>
              <a:gd name="adj" fmla="val 10811"/>
            </a:avLst>
          </a:prstGeom>
          <a:solidFill>
            <a:srgbClr val="E7F6F2"/>
          </a:solidFill>
          <a:ln w="10160">
            <a:solidFill>
              <a:srgbClr val="BFE4DA"/>
            </a:solidFill>
            <a:prstDash val="solid"/>
          </a:ln>
        </p:spPr>
        <p:txBody>
          <a:bodyPr/>
          <a:lstStyle/>
          <a:p>
            <a:endParaRPr lang="en-US"/>
          </a:p>
        </p:txBody>
      </p:sp>
      <p:sp>
        <p:nvSpPr>
          <p:cNvPr id="34" name="Text 32"/>
          <p:cNvSpPr/>
          <p:nvPr/>
        </p:nvSpPr>
        <p:spPr>
          <a:xfrm>
            <a:off x="612648" y="3840480"/>
            <a:ext cx="1280160" cy="164592"/>
          </a:xfrm>
          <a:prstGeom prst="rect">
            <a:avLst/>
          </a:prstGeom>
          <a:noFill/>
          <a:ln/>
        </p:spPr>
        <p:txBody>
          <a:bodyPr wrap="square" lIns="0" tIns="0" rIns="0" bIns="0" rtlCol="0" anchor="ctr">
            <a:normAutofit/>
          </a:bodyPr>
          <a:lstStyle/>
          <a:p>
            <a:pPr marL="0" indent="0">
              <a:buNone/>
            </a:pPr>
            <a:r>
              <a:rPr lang="en-US" sz="1050" b="1" dirty="0">
                <a:solidFill>
                  <a:srgbClr val="0C2B3A"/>
                </a:solidFill>
                <a:latin typeface="Aptos" pitchFamily="34" charset="0"/>
                <a:ea typeface="Aptos" pitchFamily="34" charset="-122"/>
                <a:cs typeface="Aptos" pitchFamily="34" charset="-120"/>
              </a:rPr>
              <a:t>Report item</a:t>
            </a:r>
            <a:endParaRPr lang="en-US" sz="1050" dirty="0"/>
          </a:p>
        </p:txBody>
      </p:sp>
      <p:sp>
        <p:nvSpPr>
          <p:cNvPr id="35" name="Text 33"/>
          <p:cNvSpPr/>
          <p:nvPr/>
        </p:nvSpPr>
        <p:spPr>
          <a:xfrm>
            <a:off x="612648" y="4078224"/>
            <a:ext cx="1298448" cy="128016"/>
          </a:xfrm>
          <a:prstGeom prst="rect">
            <a:avLst/>
          </a:prstGeom>
          <a:noFill/>
          <a:ln/>
        </p:spPr>
        <p:txBody>
          <a:bodyPr wrap="square" lIns="0" tIns="0" rIns="0" bIns="0" rtlCol="0" anchor="ctr">
            <a:normAutofit/>
          </a:bodyPr>
          <a:lstStyle/>
          <a:p>
            <a:pPr marL="0" indent="0">
              <a:buNone/>
            </a:pPr>
            <a:r>
              <a:rPr lang="en-US" sz="760" dirty="0">
                <a:solidFill>
                  <a:srgbClr val="617481"/>
                </a:solidFill>
                <a:latin typeface="Aptos" pitchFamily="34" charset="0"/>
                <a:ea typeface="Aptos" pitchFamily="34" charset="-122"/>
                <a:cs typeface="Aptos" pitchFamily="34" charset="-120"/>
              </a:rPr>
              <a:t>Regulatory metric</a:t>
            </a:r>
            <a:endParaRPr lang="en-US" sz="760" dirty="0"/>
          </a:p>
        </p:txBody>
      </p:sp>
      <p:sp>
        <p:nvSpPr>
          <p:cNvPr id="36" name="Shape 34"/>
          <p:cNvSpPr/>
          <p:nvPr/>
        </p:nvSpPr>
        <p:spPr>
          <a:xfrm>
            <a:off x="2039112" y="4096512"/>
            <a:ext cx="256032" cy="0"/>
          </a:xfrm>
          <a:prstGeom prst="line">
            <a:avLst/>
          </a:prstGeom>
          <a:noFill/>
          <a:ln w="12700">
            <a:solidFill>
              <a:srgbClr val="9CB9C3"/>
            </a:solidFill>
            <a:prstDash val="solid"/>
            <a:headEnd type="none"/>
            <a:tailEnd type="triangle"/>
          </a:ln>
        </p:spPr>
        <p:txBody>
          <a:bodyPr/>
          <a:lstStyle/>
          <a:p>
            <a:endParaRPr lang="en-US"/>
          </a:p>
        </p:txBody>
      </p:sp>
      <p:sp>
        <p:nvSpPr>
          <p:cNvPr id="37" name="Shape 35"/>
          <p:cNvSpPr/>
          <p:nvPr/>
        </p:nvSpPr>
        <p:spPr>
          <a:xfrm>
            <a:off x="2368296" y="3758184"/>
            <a:ext cx="1508760" cy="676656"/>
          </a:xfrm>
          <a:prstGeom prst="roundRect">
            <a:avLst>
              <a:gd name="adj" fmla="val 10811"/>
            </a:avLst>
          </a:prstGeom>
          <a:solidFill>
            <a:srgbClr val="FFFFFF"/>
          </a:solidFill>
          <a:ln w="10160">
            <a:solidFill>
              <a:srgbClr val="D8E4EA"/>
            </a:solidFill>
            <a:prstDash val="solid"/>
          </a:ln>
        </p:spPr>
        <p:txBody>
          <a:bodyPr/>
          <a:lstStyle/>
          <a:p>
            <a:endParaRPr lang="en-US"/>
          </a:p>
        </p:txBody>
      </p:sp>
      <p:sp>
        <p:nvSpPr>
          <p:cNvPr id="38" name="Text 36"/>
          <p:cNvSpPr/>
          <p:nvPr/>
        </p:nvSpPr>
        <p:spPr>
          <a:xfrm>
            <a:off x="2478024" y="3840480"/>
            <a:ext cx="1280160" cy="164592"/>
          </a:xfrm>
          <a:prstGeom prst="rect">
            <a:avLst/>
          </a:prstGeom>
          <a:noFill/>
          <a:ln/>
        </p:spPr>
        <p:txBody>
          <a:bodyPr wrap="square" lIns="0" tIns="0" rIns="0" bIns="0" rtlCol="0" anchor="ctr">
            <a:normAutofit/>
          </a:bodyPr>
          <a:lstStyle/>
          <a:p>
            <a:pPr marL="0" indent="0">
              <a:buNone/>
            </a:pPr>
            <a:r>
              <a:rPr lang="en-US" sz="1050" b="1" dirty="0">
                <a:solidFill>
                  <a:srgbClr val="0C2B3A"/>
                </a:solidFill>
                <a:latin typeface="Aptos" pitchFamily="34" charset="0"/>
                <a:ea typeface="Aptos" pitchFamily="34" charset="-122"/>
                <a:cs typeface="Aptos" pitchFamily="34" charset="-120"/>
              </a:rPr>
              <a:t>CDE</a:t>
            </a:r>
            <a:endParaRPr lang="en-US" sz="1050" dirty="0"/>
          </a:p>
        </p:txBody>
      </p:sp>
      <p:sp>
        <p:nvSpPr>
          <p:cNvPr id="39" name="Text 37"/>
          <p:cNvSpPr/>
          <p:nvPr/>
        </p:nvSpPr>
        <p:spPr>
          <a:xfrm>
            <a:off x="2478024" y="4078224"/>
            <a:ext cx="1298448" cy="128016"/>
          </a:xfrm>
          <a:prstGeom prst="rect">
            <a:avLst/>
          </a:prstGeom>
          <a:noFill/>
          <a:ln/>
        </p:spPr>
        <p:txBody>
          <a:bodyPr wrap="square" lIns="0" tIns="0" rIns="0" bIns="0" rtlCol="0" anchor="ctr">
            <a:normAutofit/>
          </a:bodyPr>
          <a:lstStyle/>
          <a:p>
            <a:pPr marL="0" indent="0">
              <a:buNone/>
            </a:pPr>
            <a:r>
              <a:rPr lang="en-US" sz="760" dirty="0">
                <a:solidFill>
                  <a:srgbClr val="617481"/>
                </a:solidFill>
                <a:latin typeface="Aptos" pitchFamily="34" charset="0"/>
                <a:ea typeface="Aptos" pitchFamily="34" charset="-122"/>
                <a:cs typeface="Aptos" pitchFamily="34" charset="-120"/>
              </a:rPr>
              <a:t>Business definition</a:t>
            </a:r>
            <a:endParaRPr lang="en-US" sz="760" dirty="0"/>
          </a:p>
        </p:txBody>
      </p:sp>
      <p:sp>
        <p:nvSpPr>
          <p:cNvPr id="40" name="Shape 38"/>
          <p:cNvSpPr/>
          <p:nvPr/>
        </p:nvSpPr>
        <p:spPr>
          <a:xfrm>
            <a:off x="3904488" y="4096512"/>
            <a:ext cx="256032" cy="0"/>
          </a:xfrm>
          <a:prstGeom prst="line">
            <a:avLst/>
          </a:prstGeom>
          <a:noFill/>
          <a:ln w="12700">
            <a:solidFill>
              <a:srgbClr val="9CB9C3"/>
            </a:solidFill>
            <a:prstDash val="solid"/>
            <a:headEnd type="none"/>
            <a:tailEnd type="triangle"/>
          </a:ln>
        </p:spPr>
        <p:txBody>
          <a:bodyPr/>
          <a:lstStyle/>
          <a:p>
            <a:endParaRPr lang="en-US"/>
          </a:p>
        </p:txBody>
      </p:sp>
      <p:sp>
        <p:nvSpPr>
          <p:cNvPr id="41" name="Shape 39"/>
          <p:cNvSpPr/>
          <p:nvPr/>
        </p:nvSpPr>
        <p:spPr>
          <a:xfrm>
            <a:off x="4233672" y="3758184"/>
            <a:ext cx="1508760" cy="676656"/>
          </a:xfrm>
          <a:prstGeom prst="roundRect">
            <a:avLst>
              <a:gd name="adj" fmla="val 10811"/>
            </a:avLst>
          </a:prstGeom>
          <a:solidFill>
            <a:srgbClr val="FFFFFF"/>
          </a:solidFill>
          <a:ln w="10160">
            <a:solidFill>
              <a:srgbClr val="D8E4EA"/>
            </a:solidFill>
            <a:prstDash val="solid"/>
          </a:ln>
        </p:spPr>
        <p:txBody>
          <a:bodyPr/>
          <a:lstStyle/>
          <a:p>
            <a:endParaRPr lang="en-US"/>
          </a:p>
        </p:txBody>
      </p:sp>
      <p:sp>
        <p:nvSpPr>
          <p:cNvPr id="42" name="Text 40"/>
          <p:cNvSpPr/>
          <p:nvPr/>
        </p:nvSpPr>
        <p:spPr>
          <a:xfrm>
            <a:off x="4343400" y="3840480"/>
            <a:ext cx="1280160" cy="164592"/>
          </a:xfrm>
          <a:prstGeom prst="rect">
            <a:avLst/>
          </a:prstGeom>
          <a:noFill/>
          <a:ln/>
        </p:spPr>
        <p:txBody>
          <a:bodyPr wrap="square" lIns="0" tIns="0" rIns="0" bIns="0" rtlCol="0" anchor="ctr">
            <a:normAutofit/>
          </a:bodyPr>
          <a:lstStyle/>
          <a:p>
            <a:pPr marL="0" indent="0">
              <a:buNone/>
            </a:pPr>
            <a:r>
              <a:rPr lang="en-US" sz="1050" b="1" dirty="0">
                <a:solidFill>
                  <a:srgbClr val="0C2B3A"/>
                </a:solidFill>
                <a:latin typeface="Aptos" pitchFamily="34" charset="0"/>
                <a:ea typeface="Aptos" pitchFamily="34" charset="-122"/>
                <a:cs typeface="Aptos" pitchFamily="34" charset="-120"/>
              </a:rPr>
              <a:t>Report field</a:t>
            </a:r>
            <a:endParaRPr lang="en-US" sz="1050" dirty="0"/>
          </a:p>
        </p:txBody>
      </p:sp>
      <p:sp>
        <p:nvSpPr>
          <p:cNvPr id="43" name="Text 41"/>
          <p:cNvSpPr/>
          <p:nvPr/>
        </p:nvSpPr>
        <p:spPr>
          <a:xfrm>
            <a:off x="4343400" y="4078224"/>
            <a:ext cx="1298448" cy="128016"/>
          </a:xfrm>
          <a:prstGeom prst="rect">
            <a:avLst/>
          </a:prstGeom>
          <a:noFill/>
          <a:ln/>
        </p:spPr>
        <p:txBody>
          <a:bodyPr wrap="square" lIns="0" tIns="0" rIns="0" bIns="0" rtlCol="0" anchor="ctr">
            <a:normAutofit/>
          </a:bodyPr>
          <a:lstStyle/>
          <a:p>
            <a:pPr marL="0" indent="0">
              <a:buNone/>
            </a:pPr>
            <a:r>
              <a:rPr lang="en-US" sz="760" dirty="0">
                <a:solidFill>
                  <a:srgbClr val="617481"/>
                </a:solidFill>
                <a:latin typeface="Aptos" pitchFamily="34" charset="0"/>
                <a:ea typeface="Aptos" pitchFamily="34" charset="-122"/>
                <a:cs typeface="Aptos" pitchFamily="34" charset="-120"/>
              </a:rPr>
              <a:t>Calculation output</a:t>
            </a:r>
            <a:endParaRPr lang="en-US" sz="760" dirty="0"/>
          </a:p>
        </p:txBody>
      </p:sp>
      <p:sp>
        <p:nvSpPr>
          <p:cNvPr id="44" name="Shape 42"/>
          <p:cNvSpPr/>
          <p:nvPr/>
        </p:nvSpPr>
        <p:spPr>
          <a:xfrm>
            <a:off x="5769864" y="4096512"/>
            <a:ext cx="256032" cy="0"/>
          </a:xfrm>
          <a:prstGeom prst="line">
            <a:avLst/>
          </a:prstGeom>
          <a:noFill/>
          <a:ln w="12700">
            <a:solidFill>
              <a:srgbClr val="9CB9C3"/>
            </a:solidFill>
            <a:prstDash val="solid"/>
            <a:headEnd type="none"/>
            <a:tailEnd type="triangle"/>
          </a:ln>
        </p:spPr>
        <p:txBody>
          <a:bodyPr/>
          <a:lstStyle/>
          <a:p>
            <a:endParaRPr lang="en-US"/>
          </a:p>
        </p:txBody>
      </p:sp>
      <p:sp>
        <p:nvSpPr>
          <p:cNvPr id="45" name="Shape 43"/>
          <p:cNvSpPr/>
          <p:nvPr/>
        </p:nvSpPr>
        <p:spPr>
          <a:xfrm>
            <a:off x="6099048" y="3758184"/>
            <a:ext cx="1508760" cy="676656"/>
          </a:xfrm>
          <a:prstGeom prst="roundRect">
            <a:avLst>
              <a:gd name="adj" fmla="val 10811"/>
            </a:avLst>
          </a:prstGeom>
          <a:solidFill>
            <a:srgbClr val="FFFFFF"/>
          </a:solidFill>
          <a:ln w="10160">
            <a:solidFill>
              <a:srgbClr val="D8E4EA"/>
            </a:solidFill>
            <a:prstDash val="solid"/>
          </a:ln>
        </p:spPr>
        <p:txBody>
          <a:bodyPr/>
          <a:lstStyle/>
          <a:p>
            <a:endParaRPr lang="en-US"/>
          </a:p>
        </p:txBody>
      </p:sp>
      <p:sp>
        <p:nvSpPr>
          <p:cNvPr id="46" name="Text 44"/>
          <p:cNvSpPr/>
          <p:nvPr/>
        </p:nvSpPr>
        <p:spPr>
          <a:xfrm>
            <a:off x="6208776" y="3840480"/>
            <a:ext cx="1280160" cy="164592"/>
          </a:xfrm>
          <a:prstGeom prst="rect">
            <a:avLst/>
          </a:prstGeom>
          <a:noFill/>
          <a:ln/>
        </p:spPr>
        <p:txBody>
          <a:bodyPr wrap="square" lIns="0" tIns="0" rIns="0" bIns="0" rtlCol="0" anchor="ctr">
            <a:normAutofit/>
          </a:bodyPr>
          <a:lstStyle/>
          <a:p>
            <a:pPr marL="0" indent="0">
              <a:buNone/>
            </a:pPr>
            <a:r>
              <a:rPr lang="en-US" sz="1050" b="1" dirty="0">
                <a:solidFill>
                  <a:srgbClr val="0C2B3A"/>
                </a:solidFill>
                <a:latin typeface="Aptos" pitchFamily="34" charset="0"/>
                <a:ea typeface="Aptos" pitchFamily="34" charset="-122"/>
                <a:cs typeface="Aptos" pitchFamily="34" charset="-120"/>
              </a:rPr>
              <a:t>Transform</a:t>
            </a:r>
            <a:endParaRPr lang="en-US" sz="1050" dirty="0"/>
          </a:p>
        </p:txBody>
      </p:sp>
      <p:sp>
        <p:nvSpPr>
          <p:cNvPr id="47" name="Text 45"/>
          <p:cNvSpPr/>
          <p:nvPr/>
        </p:nvSpPr>
        <p:spPr>
          <a:xfrm>
            <a:off x="6208776" y="4078224"/>
            <a:ext cx="1298448" cy="128016"/>
          </a:xfrm>
          <a:prstGeom prst="rect">
            <a:avLst/>
          </a:prstGeom>
          <a:noFill/>
          <a:ln/>
        </p:spPr>
        <p:txBody>
          <a:bodyPr wrap="square" lIns="0" tIns="0" rIns="0" bIns="0" rtlCol="0" anchor="ctr">
            <a:normAutofit/>
          </a:bodyPr>
          <a:lstStyle/>
          <a:p>
            <a:pPr marL="0" indent="0">
              <a:buNone/>
            </a:pPr>
            <a:r>
              <a:rPr lang="en-US" sz="760" dirty="0">
                <a:solidFill>
                  <a:srgbClr val="617481"/>
                </a:solidFill>
                <a:latin typeface="Aptos" pitchFamily="34" charset="0"/>
                <a:ea typeface="Aptos" pitchFamily="34" charset="-122"/>
                <a:cs typeface="Aptos" pitchFamily="34" charset="-120"/>
              </a:rPr>
              <a:t>SQL / ETL / rule</a:t>
            </a:r>
            <a:endParaRPr lang="en-US" sz="760" dirty="0"/>
          </a:p>
        </p:txBody>
      </p:sp>
      <p:sp>
        <p:nvSpPr>
          <p:cNvPr id="48" name="Shape 46"/>
          <p:cNvSpPr/>
          <p:nvPr/>
        </p:nvSpPr>
        <p:spPr>
          <a:xfrm>
            <a:off x="7635240" y="4096512"/>
            <a:ext cx="256032" cy="0"/>
          </a:xfrm>
          <a:prstGeom prst="line">
            <a:avLst/>
          </a:prstGeom>
          <a:noFill/>
          <a:ln w="12700">
            <a:solidFill>
              <a:srgbClr val="9CB9C3"/>
            </a:solidFill>
            <a:prstDash val="solid"/>
            <a:headEnd type="none"/>
            <a:tailEnd type="triangle"/>
          </a:ln>
        </p:spPr>
        <p:txBody>
          <a:bodyPr/>
          <a:lstStyle/>
          <a:p>
            <a:endParaRPr lang="en-US"/>
          </a:p>
        </p:txBody>
      </p:sp>
      <p:sp>
        <p:nvSpPr>
          <p:cNvPr id="49" name="Shape 47"/>
          <p:cNvSpPr/>
          <p:nvPr/>
        </p:nvSpPr>
        <p:spPr>
          <a:xfrm>
            <a:off x="7964424" y="3758184"/>
            <a:ext cx="1508760" cy="676656"/>
          </a:xfrm>
          <a:prstGeom prst="roundRect">
            <a:avLst>
              <a:gd name="adj" fmla="val 10811"/>
            </a:avLst>
          </a:prstGeom>
          <a:solidFill>
            <a:srgbClr val="FFFFFF"/>
          </a:solidFill>
          <a:ln w="10160">
            <a:solidFill>
              <a:srgbClr val="D8E4EA"/>
            </a:solidFill>
            <a:prstDash val="solid"/>
          </a:ln>
        </p:spPr>
        <p:txBody>
          <a:bodyPr/>
          <a:lstStyle/>
          <a:p>
            <a:endParaRPr lang="en-US"/>
          </a:p>
        </p:txBody>
      </p:sp>
      <p:sp>
        <p:nvSpPr>
          <p:cNvPr id="50" name="Text 48"/>
          <p:cNvSpPr/>
          <p:nvPr/>
        </p:nvSpPr>
        <p:spPr>
          <a:xfrm>
            <a:off x="8074152" y="3840480"/>
            <a:ext cx="1280160" cy="164592"/>
          </a:xfrm>
          <a:prstGeom prst="rect">
            <a:avLst/>
          </a:prstGeom>
          <a:noFill/>
          <a:ln/>
        </p:spPr>
        <p:txBody>
          <a:bodyPr wrap="square" lIns="0" tIns="0" rIns="0" bIns="0" rtlCol="0" anchor="ctr">
            <a:normAutofit/>
          </a:bodyPr>
          <a:lstStyle/>
          <a:p>
            <a:pPr marL="0" indent="0">
              <a:buNone/>
            </a:pPr>
            <a:r>
              <a:rPr lang="en-US" sz="1050" b="1" dirty="0">
                <a:solidFill>
                  <a:srgbClr val="0C2B3A"/>
                </a:solidFill>
                <a:latin typeface="Aptos" pitchFamily="34" charset="0"/>
                <a:ea typeface="Aptos" pitchFamily="34" charset="-122"/>
                <a:cs typeface="Aptos" pitchFamily="34" charset="-120"/>
              </a:rPr>
              <a:t>Data platform</a:t>
            </a:r>
            <a:endParaRPr lang="en-US" sz="1050" dirty="0"/>
          </a:p>
        </p:txBody>
      </p:sp>
      <p:sp>
        <p:nvSpPr>
          <p:cNvPr id="51" name="Text 49"/>
          <p:cNvSpPr/>
          <p:nvPr/>
        </p:nvSpPr>
        <p:spPr>
          <a:xfrm>
            <a:off x="8074152" y="4078224"/>
            <a:ext cx="1298448" cy="128016"/>
          </a:xfrm>
          <a:prstGeom prst="rect">
            <a:avLst/>
          </a:prstGeom>
          <a:noFill/>
          <a:ln/>
        </p:spPr>
        <p:txBody>
          <a:bodyPr wrap="square" lIns="0" tIns="0" rIns="0" bIns="0" rtlCol="0" anchor="ctr">
            <a:normAutofit/>
          </a:bodyPr>
          <a:lstStyle/>
          <a:p>
            <a:pPr marL="0" indent="0">
              <a:buNone/>
            </a:pPr>
            <a:r>
              <a:rPr lang="en-US" sz="760" dirty="0">
                <a:solidFill>
                  <a:srgbClr val="617481"/>
                </a:solidFill>
                <a:latin typeface="Aptos" pitchFamily="34" charset="0"/>
                <a:ea typeface="Aptos" pitchFamily="34" charset="-122"/>
                <a:cs typeface="Aptos" pitchFamily="34" charset="-120"/>
              </a:rPr>
              <a:t>Lake / warehouse</a:t>
            </a:r>
            <a:endParaRPr lang="en-US" sz="760" dirty="0"/>
          </a:p>
        </p:txBody>
      </p:sp>
      <p:sp>
        <p:nvSpPr>
          <p:cNvPr id="52" name="Shape 50"/>
          <p:cNvSpPr/>
          <p:nvPr/>
        </p:nvSpPr>
        <p:spPr>
          <a:xfrm>
            <a:off x="9500616" y="4096512"/>
            <a:ext cx="256032" cy="0"/>
          </a:xfrm>
          <a:prstGeom prst="line">
            <a:avLst/>
          </a:prstGeom>
          <a:noFill/>
          <a:ln w="12700">
            <a:solidFill>
              <a:srgbClr val="9CB9C3"/>
            </a:solidFill>
            <a:prstDash val="solid"/>
            <a:headEnd type="none"/>
            <a:tailEnd type="triangle"/>
          </a:ln>
        </p:spPr>
        <p:txBody>
          <a:bodyPr/>
          <a:lstStyle/>
          <a:p>
            <a:endParaRPr lang="en-US"/>
          </a:p>
        </p:txBody>
      </p:sp>
      <p:sp>
        <p:nvSpPr>
          <p:cNvPr id="53" name="Shape 51"/>
          <p:cNvSpPr/>
          <p:nvPr/>
        </p:nvSpPr>
        <p:spPr>
          <a:xfrm>
            <a:off x="9829800" y="3758184"/>
            <a:ext cx="1508760" cy="676656"/>
          </a:xfrm>
          <a:prstGeom prst="roundRect">
            <a:avLst>
              <a:gd name="adj" fmla="val 10811"/>
            </a:avLst>
          </a:prstGeom>
          <a:solidFill>
            <a:srgbClr val="FFFFFF"/>
          </a:solidFill>
          <a:ln w="10160">
            <a:solidFill>
              <a:srgbClr val="D8E4EA"/>
            </a:solidFill>
            <a:prstDash val="solid"/>
          </a:ln>
        </p:spPr>
        <p:txBody>
          <a:bodyPr/>
          <a:lstStyle/>
          <a:p>
            <a:endParaRPr lang="en-US"/>
          </a:p>
        </p:txBody>
      </p:sp>
      <p:sp>
        <p:nvSpPr>
          <p:cNvPr id="54" name="Text 52"/>
          <p:cNvSpPr/>
          <p:nvPr/>
        </p:nvSpPr>
        <p:spPr>
          <a:xfrm>
            <a:off x="9939528" y="3840480"/>
            <a:ext cx="1280160" cy="164592"/>
          </a:xfrm>
          <a:prstGeom prst="rect">
            <a:avLst/>
          </a:prstGeom>
          <a:noFill/>
          <a:ln/>
        </p:spPr>
        <p:txBody>
          <a:bodyPr wrap="square" lIns="0" tIns="0" rIns="0" bIns="0" rtlCol="0" anchor="ctr">
            <a:normAutofit/>
          </a:bodyPr>
          <a:lstStyle/>
          <a:p>
            <a:pPr marL="0" indent="0">
              <a:buNone/>
            </a:pPr>
            <a:r>
              <a:rPr lang="en-US" sz="1050" b="1" dirty="0">
                <a:solidFill>
                  <a:srgbClr val="0C2B3A"/>
                </a:solidFill>
                <a:latin typeface="Aptos" pitchFamily="34" charset="0"/>
                <a:ea typeface="Aptos" pitchFamily="34" charset="-122"/>
                <a:cs typeface="Aptos" pitchFamily="34" charset="-120"/>
              </a:rPr>
              <a:t>Source system</a:t>
            </a:r>
            <a:endParaRPr lang="en-US" sz="1050" dirty="0"/>
          </a:p>
        </p:txBody>
      </p:sp>
      <p:sp>
        <p:nvSpPr>
          <p:cNvPr id="55" name="Text 53"/>
          <p:cNvSpPr/>
          <p:nvPr/>
        </p:nvSpPr>
        <p:spPr>
          <a:xfrm>
            <a:off x="9939528" y="4078224"/>
            <a:ext cx="1298448" cy="128016"/>
          </a:xfrm>
          <a:prstGeom prst="rect">
            <a:avLst/>
          </a:prstGeom>
          <a:noFill/>
          <a:ln/>
        </p:spPr>
        <p:txBody>
          <a:bodyPr wrap="square" lIns="0" tIns="0" rIns="0" bIns="0" rtlCol="0" anchor="ctr">
            <a:normAutofit/>
          </a:bodyPr>
          <a:lstStyle/>
          <a:p>
            <a:pPr marL="0" indent="0">
              <a:buNone/>
            </a:pPr>
            <a:r>
              <a:rPr lang="en-US" sz="760" dirty="0">
                <a:solidFill>
                  <a:srgbClr val="617481"/>
                </a:solidFill>
                <a:latin typeface="Aptos" pitchFamily="34" charset="0"/>
                <a:ea typeface="Aptos" pitchFamily="34" charset="-122"/>
                <a:cs typeface="Aptos" pitchFamily="34" charset="-120"/>
              </a:rPr>
              <a:t>Core banking / files</a:t>
            </a:r>
            <a:endParaRPr lang="en-US" sz="760" dirty="0"/>
          </a:p>
        </p:txBody>
      </p:sp>
      <p:sp>
        <p:nvSpPr>
          <p:cNvPr id="56" name="Shape 54"/>
          <p:cNvSpPr/>
          <p:nvPr/>
        </p:nvSpPr>
        <p:spPr>
          <a:xfrm>
            <a:off x="685800" y="4800600"/>
            <a:ext cx="10424160" cy="0"/>
          </a:xfrm>
          <a:prstGeom prst="line">
            <a:avLst/>
          </a:prstGeom>
          <a:noFill/>
          <a:ln w="15240">
            <a:solidFill>
              <a:srgbClr val="0E8F8A"/>
            </a:solidFill>
            <a:prstDash val="solid"/>
            <a:headEnd type="triangle"/>
            <a:tailEnd type="triangle"/>
          </a:ln>
        </p:spPr>
        <p:txBody>
          <a:bodyPr/>
          <a:lstStyle/>
          <a:p>
            <a:endParaRPr lang="en-US"/>
          </a:p>
        </p:txBody>
      </p:sp>
      <p:sp>
        <p:nvSpPr>
          <p:cNvPr id="57" name="Text 55"/>
          <p:cNvSpPr/>
          <p:nvPr/>
        </p:nvSpPr>
        <p:spPr>
          <a:xfrm>
            <a:off x="667512" y="4919472"/>
            <a:ext cx="4114800" cy="146304"/>
          </a:xfrm>
          <a:prstGeom prst="rect">
            <a:avLst/>
          </a:prstGeom>
          <a:noFill/>
          <a:ln/>
        </p:spPr>
        <p:txBody>
          <a:bodyPr wrap="square" lIns="0" tIns="0" rIns="0" bIns="0" rtlCol="0" anchor="ctr">
            <a:normAutofit/>
          </a:bodyPr>
          <a:lstStyle/>
          <a:p>
            <a:pPr marL="0" indent="0">
              <a:buNone/>
            </a:pPr>
            <a:r>
              <a:rPr lang="en-US" sz="930" b="1" dirty="0">
                <a:solidFill>
                  <a:srgbClr val="0E8F8A"/>
                </a:solidFill>
                <a:latin typeface="Aptos" pitchFamily="34" charset="0"/>
                <a:ea typeface="Aptos" pitchFamily="34" charset="-122"/>
                <a:cs typeface="Aptos" pitchFamily="34" charset="-120"/>
              </a:rPr>
              <a:t>Backward traceability: “Where did this number come from?”</a:t>
            </a:r>
            <a:endParaRPr lang="en-US" sz="930" dirty="0"/>
          </a:p>
        </p:txBody>
      </p:sp>
      <p:sp>
        <p:nvSpPr>
          <p:cNvPr id="58" name="Text 56"/>
          <p:cNvSpPr/>
          <p:nvPr/>
        </p:nvSpPr>
        <p:spPr>
          <a:xfrm>
            <a:off x="6400800" y="4919472"/>
            <a:ext cx="4709160" cy="146304"/>
          </a:xfrm>
          <a:prstGeom prst="rect">
            <a:avLst/>
          </a:prstGeom>
          <a:noFill/>
          <a:ln/>
        </p:spPr>
        <p:txBody>
          <a:bodyPr wrap="square" lIns="0" tIns="0" rIns="0" bIns="0" rtlCol="0" anchor="ctr">
            <a:normAutofit/>
          </a:bodyPr>
          <a:lstStyle/>
          <a:p>
            <a:pPr marL="0" indent="0" algn="r">
              <a:buNone/>
            </a:pPr>
            <a:r>
              <a:rPr lang="en-US" sz="930" b="1" dirty="0">
                <a:solidFill>
                  <a:srgbClr val="0E8F8A"/>
                </a:solidFill>
                <a:latin typeface="Aptos" pitchFamily="34" charset="0"/>
                <a:ea typeface="Aptos" pitchFamily="34" charset="-122"/>
                <a:cs typeface="Aptos" pitchFamily="34" charset="-120"/>
              </a:rPr>
              <a:t>Forward impact analysis: “What breaks if this source field or rule changes?”</a:t>
            </a:r>
            <a:endParaRPr lang="en-US" sz="930" dirty="0"/>
          </a:p>
        </p:txBody>
      </p:sp>
      <p:sp>
        <p:nvSpPr>
          <p:cNvPr id="59" name="Shape 57"/>
          <p:cNvSpPr/>
          <p:nvPr/>
        </p:nvSpPr>
        <p:spPr>
          <a:xfrm>
            <a:off x="502920" y="5486400"/>
            <a:ext cx="5394960" cy="603504"/>
          </a:xfrm>
          <a:prstGeom prst="rect">
            <a:avLst/>
          </a:prstGeom>
          <a:solidFill>
            <a:srgbClr val="0C2B3A"/>
          </a:solidFill>
          <a:ln w="10160">
            <a:solidFill>
              <a:srgbClr val="0C2B3A"/>
            </a:solidFill>
            <a:prstDash val="solid"/>
          </a:ln>
        </p:spPr>
        <p:txBody>
          <a:bodyPr/>
          <a:lstStyle/>
          <a:p>
            <a:endParaRPr lang="en-US"/>
          </a:p>
        </p:txBody>
      </p:sp>
      <p:sp>
        <p:nvSpPr>
          <p:cNvPr id="60" name="Text 58"/>
          <p:cNvSpPr/>
          <p:nvPr/>
        </p:nvSpPr>
        <p:spPr>
          <a:xfrm>
            <a:off x="685800" y="5650992"/>
            <a:ext cx="5029200" cy="182880"/>
          </a:xfrm>
          <a:prstGeom prst="rect">
            <a:avLst/>
          </a:prstGeom>
          <a:noFill/>
          <a:ln/>
        </p:spPr>
        <p:txBody>
          <a:bodyPr wrap="square" lIns="0" tIns="0" rIns="0" bIns="0" rtlCol="0" anchor="ctr">
            <a:normAutofit/>
          </a:bodyPr>
          <a:lstStyle/>
          <a:p>
            <a:pPr marL="0" indent="0" algn="ctr">
              <a:buNone/>
            </a:pPr>
            <a:r>
              <a:rPr lang="en-US" sz="1060" b="1" dirty="0">
                <a:solidFill>
                  <a:srgbClr val="FFFFFF"/>
                </a:solidFill>
                <a:latin typeface="Aptos" pitchFamily="34" charset="0"/>
                <a:ea typeface="Aptos" pitchFamily="34" charset="-122"/>
                <a:cs typeface="Aptos" pitchFamily="34" charset="-120"/>
              </a:rPr>
              <a:t>Pilot output: working lineage for selected CDEs + evidence pack + adapter backlog + automation coverage baseline</a:t>
            </a:r>
            <a:endParaRPr lang="en-US" sz="1060" dirty="0"/>
          </a:p>
        </p:txBody>
      </p:sp>
      <p:sp>
        <p:nvSpPr>
          <p:cNvPr id="61" name="Shape 59"/>
          <p:cNvSpPr/>
          <p:nvPr/>
        </p:nvSpPr>
        <p:spPr>
          <a:xfrm>
            <a:off x="6172200" y="5486400"/>
            <a:ext cx="5532120" cy="603504"/>
          </a:xfrm>
          <a:prstGeom prst="rect">
            <a:avLst/>
          </a:prstGeom>
          <a:solidFill>
            <a:srgbClr val="E7F6F2"/>
          </a:solidFill>
          <a:ln w="10160">
            <a:solidFill>
              <a:srgbClr val="BFE4DA"/>
            </a:solidFill>
            <a:prstDash val="solid"/>
          </a:ln>
        </p:spPr>
        <p:txBody>
          <a:bodyPr/>
          <a:lstStyle/>
          <a:p>
            <a:endParaRPr lang="en-US"/>
          </a:p>
        </p:txBody>
      </p:sp>
      <p:sp>
        <p:nvSpPr>
          <p:cNvPr id="62" name="Text 60"/>
          <p:cNvSpPr/>
          <p:nvPr/>
        </p:nvSpPr>
        <p:spPr>
          <a:xfrm>
            <a:off x="6355080" y="5650992"/>
            <a:ext cx="5166360" cy="182880"/>
          </a:xfrm>
          <a:prstGeom prst="rect">
            <a:avLst/>
          </a:prstGeom>
          <a:noFill/>
          <a:ln/>
        </p:spPr>
        <p:txBody>
          <a:bodyPr wrap="square" lIns="0" tIns="0" rIns="0" bIns="0" rtlCol="0" anchor="ctr">
            <a:normAutofit/>
          </a:bodyPr>
          <a:lstStyle/>
          <a:p>
            <a:pPr marL="0" indent="0" algn="ctr">
              <a:buNone/>
            </a:pPr>
            <a:r>
              <a:rPr lang="en-US" sz="1040" b="1" dirty="0">
                <a:solidFill>
                  <a:srgbClr val="0C2B3A"/>
                </a:solidFill>
                <a:latin typeface="Aptos" pitchFamily="34" charset="0"/>
                <a:ea typeface="Aptos" pitchFamily="34" charset="-122"/>
                <a:cs typeface="Aptos" pitchFamily="34" charset="-120"/>
              </a:rPr>
              <a:t>Measured value: manual baseline vs deterministic extraction vs extraction + AI-assisted review</a:t>
            </a:r>
            <a:endParaRPr lang="en-US" sz="10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8FB"/>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0E8F8A"/>
          </a:solidFill>
          <a:ln w="12700">
            <a:solidFill>
              <a:srgbClr val="0E8F8A"/>
            </a:solidFill>
            <a:prstDash val="solid"/>
          </a:ln>
        </p:spPr>
        <p:txBody>
          <a:bodyPr/>
          <a:lstStyle/>
          <a:p>
            <a:endParaRPr lang="en-US"/>
          </a:p>
        </p:txBody>
      </p:sp>
      <p:sp>
        <p:nvSpPr>
          <p:cNvPr id="3" name="Text 1"/>
          <p:cNvSpPr/>
          <p:nvPr/>
        </p:nvSpPr>
        <p:spPr>
          <a:xfrm>
            <a:off x="502920" y="320040"/>
            <a:ext cx="6858000" cy="182880"/>
          </a:xfrm>
          <a:prstGeom prst="rect">
            <a:avLst/>
          </a:prstGeom>
          <a:noFill/>
          <a:ln/>
        </p:spPr>
        <p:txBody>
          <a:bodyPr wrap="square" lIns="0" tIns="0" rIns="0" bIns="0" rtlCol="0" anchor="ctr">
            <a:normAutofit/>
          </a:bodyPr>
          <a:lstStyle/>
          <a:p>
            <a:pPr marL="0" indent="0">
              <a:buNone/>
            </a:pPr>
            <a:r>
              <a:rPr lang="en-US" sz="870" b="1" kern="0" spc="170" dirty="0">
                <a:solidFill>
                  <a:srgbClr val="0E8F8A"/>
                </a:solidFill>
                <a:latin typeface="Aptos" pitchFamily="34" charset="0"/>
                <a:ea typeface="Aptos" pitchFamily="34" charset="-122"/>
                <a:cs typeface="Aptos" pitchFamily="34" charset="-120"/>
              </a:rPr>
              <a:t>04 / OPERATING MODEL</a:t>
            </a:r>
            <a:endParaRPr lang="en-US" sz="870" dirty="0"/>
          </a:p>
        </p:txBody>
      </p:sp>
      <p:sp>
        <p:nvSpPr>
          <p:cNvPr id="4" name="Text 2"/>
          <p:cNvSpPr/>
          <p:nvPr/>
        </p:nvSpPr>
        <p:spPr>
          <a:xfrm>
            <a:off x="502920" y="621792"/>
            <a:ext cx="8869680" cy="502920"/>
          </a:xfrm>
          <a:prstGeom prst="rect">
            <a:avLst/>
          </a:prstGeom>
          <a:noFill/>
          <a:ln/>
        </p:spPr>
        <p:txBody>
          <a:bodyPr wrap="square" lIns="0" tIns="0" rIns="0" bIns="0" rtlCol="0" anchor="ctr">
            <a:normAutofit/>
          </a:bodyPr>
          <a:lstStyle/>
          <a:p>
            <a:pPr marL="0" indent="0">
              <a:buNone/>
            </a:pPr>
            <a:r>
              <a:rPr lang="en-US" sz="2500" b="1" dirty="0">
                <a:solidFill>
                  <a:srgbClr val="0C2B3A"/>
                </a:solidFill>
                <a:latin typeface="Aptos Display" pitchFamily="34" charset="0"/>
                <a:ea typeface="Aptos Display" pitchFamily="34" charset="-122"/>
                <a:cs typeface="Aptos Display" pitchFamily="34" charset="-120"/>
              </a:rPr>
              <a:t>Make lineage sustainable through federated ownership and a clear definition of done</a:t>
            </a:r>
            <a:endParaRPr lang="en-US" sz="2500" dirty="0"/>
          </a:p>
        </p:txBody>
      </p:sp>
      <p:sp>
        <p:nvSpPr>
          <p:cNvPr id="5" name="Text 3"/>
          <p:cNvSpPr/>
          <p:nvPr/>
        </p:nvSpPr>
        <p:spPr>
          <a:xfrm>
            <a:off x="502920" y="1170432"/>
            <a:ext cx="10789920" cy="338328"/>
          </a:xfrm>
          <a:prstGeom prst="rect">
            <a:avLst/>
          </a:prstGeom>
          <a:noFill/>
          <a:ln/>
        </p:spPr>
        <p:txBody>
          <a:bodyPr wrap="square" lIns="0" tIns="0" rIns="0" bIns="0" rtlCol="0" anchor="t">
            <a:normAutofit/>
          </a:bodyPr>
          <a:lstStyle/>
          <a:p>
            <a:pPr marL="0" indent="0">
              <a:buNone/>
            </a:pPr>
            <a:r>
              <a:rPr lang="en-US" sz="1210" dirty="0">
                <a:solidFill>
                  <a:srgbClr val="617481"/>
                </a:solidFill>
                <a:latin typeface="Aptos" pitchFamily="34" charset="0"/>
                <a:ea typeface="Aptos" pitchFamily="34" charset="-122"/>
                <a:cs typeface="Aptos" pitchFamily="34" charset="-120"/>
              </a:rPr>
              <a:t>BCBS239 is an operating capability, not just a graph. We embed ownership, controls, attestation and change management from the pilot.</a:t>
            </a:r>
            <a:endParaRPr lang="en-US" sz="1210" dirty="0"/>
          </a:p>
        </p:txBody>
      </p:sp>
      <p:sp>
        <p:nvSpPr>
          <p:cNvPr id="6" name="Text 4"/>
          <p:cNvSpPr/>
          <p:nvPr/>
        </p:nvSpPr>
        <p:spPr>
          <a:xfrm>
            <a:off x="502920" y="6528816"/>
            <a:ext cx="5394960" cy="146304"/>
          </a:xfrm>
          <a:prstGeom prst="rect">
            <a:avLst/>
          </a:prstGeom>
          <a:noFill/>
          <a:ln/>
        </p:spPr>
        <p:txBody>
          <a:bodyPr wrap="square" lIns="0" tIns="0" rIns="0" bIns="0" rtlCol="0" anchor="ctr">
            <a:normAutofit/>
          </a:bodyPr>
          <a:lstStyle/>
          <a:p>
            <a:pPr marL="0" indent="0">
              <a:buNone/>
            </a:pPr>
            <a:r>
              <a:rPr lang="en-US" sz="750" dirty="0">
                <a:solidFill>
                  <a:srgbClr val="7B8B94"/>
                </a:solidFill>
                <a:latin typeface="Aptos" pitchFamily="34" charset="0"/>
                <a:ea typeface="Aptos" pitchFamily="34" charset="-122"/>
                <a:cs typeface="Aptos" pitchFamily="34" charset="-120"/>
              </a:rPr>
              <a:t>BCBS239 LINEAGE INDUSTRIALISATION  |  DISCUSSION PROPOSAL</a:t>
            </a:r>
            <a:endParaRPr lang="en-US" sz="750" dirty="0"/>
          </a:p>
        </p:txBody>
      </p:sp>
      <p:sp>
        <p:nvSpPr>
          <p:cNvPr id="7" name="Text 5"/>
          <p:cNvSpPr/>
          <p:nvPr/>
        </p:nvSpPr>
        <p:spPr>
          <a:xfrm>
            <a:off x="11384280" y="6510528"/>
            <a:ext cx="274320" cy="164592"/>
          </a:xfrm>
          <a:prstGeom prst="rect">
            <a:avLst/>
          </a:prstGeom>
          <a:noFill/>
          <a:ln/>
        </p:spPr>
        <p:txBody>
          <a:bodyPr wrap="square" lIns="0" tIns="0" rIns="0" bIns="0" rtlCol="0" anchor="ctr">
            <a:normAutofit/>
          </a:bodyPr>
          <a:lstStyle/>
          <a:p>
            <a:pPr marL="0" indent="0" algn="r">
              <a:buNone/>
            </a:pPr>
            <a:r>
              <a:rPr lang="en-US" sz="800" b="1" dirty="0">
                <a:solidFill>
                  <a:srgbClr val="0E8F8A"/>
                </a:solidFill>
                <a:latin typeface="Aptos" pitchFamily="34" charset="0"/>
                <a:ea typeface="Aptos" pitchFamily="34" charset="-122"/>
                <a:cs typeface="Aptos" pitchFamily="34" charset="-120"/>
              </a:rPr>
              <a:t>04</a:t>
            </a:r>
            <a:endParaRPr lang="en-US" sz="800" dirty="0"/>
          </a:p>
        </p:txBody>
      </p:sp>
      <p:sp>
        <p:nvSpPr>
          <p:cNvPr id="8" name="Shape 6"/>
          <p:cNvSpPr/>
          <p:nvPr/>
        </p:nvSpPr>
        <p:spPr>
          <a:xfrm>
            <a:off x="502920" y="1737360"/>
            <a:ext cx="2514600" cy="1627632"/>
          </a:xfrm>
          <a:prstGeom prst="roundRect">
            <a:avLst>
              <a:gd name="adj" fmla="val 4494"/>
            </a:avLst>
          </a:prstGeom>
          <a:solidFill>
            <a:srgbClr val="FFFFFF"/>
          </a:solidFill>
          <a:ln w="10160">
            <a:solidFill>
              <a:srgbClr val="D8E4EA"/>
            </a:solidFill>
            <a:prstDash val="solid"/>
          </a:ln>
          <a:effectLst>
            <a:outerShdw blurRad="16510" dist="7620" dir="2700000" algn="bl" rotWithShape="0">
              <a:srgbClr val="0C2B3A">
                <a:alpha val="12000"/>
              </a:srgbClr>
            </a:outerShdw>
          </a:effectLst>
        </p:spPr>
        <p:txBody>
          <a:bodyPr/>
          <a:lstStyle/>
          <a:p>
            <a:endParaRPr lang="en-US"/>
          </a:p>
        </p:txBody>
      </p:sp>
      <p:sp>
        <p:nvSpPr>
          <p:cNvPr id="9" name="Text 7"/>
          <p:cNvSpPr/>
          <p:nvPr/>
        </p:nvSpPr>
        <p:spPr>
          <a:xfrm>
            <a:off x="667512" y="1956816"/>
            <a:ext cx="2194560" cy="237744"/>
          </a:xfrm>
          <a:prstGeom prst="rect">
            <a:avLst/>
          </a:prstGeom>
          <a:noFill/>
          <a:ln/>
        </p:spPr>
        <p:txBody>
          <a:bodyPr wrap="square" lIns="0" tIns="0" rIns="0" bIns="0" rtlCol="0" anchor="ctr">
            <a:normAutofit/>
          </a:bodyPr>
          <a:lstStyle/>
          <a:p>
            <a:pPr marL="0" indent="0">
              <a:buNone/>
            </a:pPr>
            <a:r>
              <a:rPr lang="en-US" sz="1260" b="1" dirty="0">
                <a:solidFill>
                  <a:srgbClr val="0C2B3A"/>
                </a:solidFill>
                <a:latin typeface="Aptos" pitchFamily="34" charset="0"/>
                <a:ea typeface="Aptos" pitchFamily="34" charset="-122"/>
                <a:cs typeface="Aptos" pitchFamily="34" charset="-120"/>
              </a:rPr>
              <a:t>Report / Consumer owner</a:t>
            </a:r>
            <a:endParaRPr lang="en-US" sz="1260" dirty="0"/>
          </a:p>
        </p:txBody>
      </p:sp>
      <p:sp>
        <p:nvSpPr>
          <p:cNvPr id="10" name="Text 8"/>
          <p:cNvSpPr/>
          <p:nvPr/>
        </p:nvSpPr>
        <p:spPr>
          <a:xfrm>
            <a:off x="667512" y="2340864"/>
            <a:ext cx="2148840" cy="658368"/>
          </a:xfrm>
          <a:prstGeom prst="rect">
            <a:avLst/>
          </a:prstGeom>
          <a:noFill/>
          <a:ln/>
        </p:spPr>
        <p:txBody>
          <a:bodyPr wrap="square" lIns="0" tIns="0" rIns="0" bIns="0" rtlCol="0" anchor="t">
            <a:normAutofit/>
          </a:bodyPr>
          <a:lstStyle/>
          <a:p>
            <a:pPr marL="0" indent="0">
              <a:buNone/>
            </a:pPr>
            <a:r>
              <a:rPr lang="en-US" sz="940" dirty="0">
                <a:solidFill>
                  <a:srgbClr val="617481"/>
                </a:solidFill>
                <a:latin typeface="Aptos" pitchFamily="34" charset="0"/>
                <a:ea typeface="Aptos" pitchFamily="34" charset="-122"/>
                <a:cs typeface="Aptos" pitchFamily="34" charset="-120"/>
              </a:rPr>
              <a:t>Business definition</a:t>
            </a:r>
            <a:endParaRPr lang="en-US" sz="940" dirty="0"/>
          </a:p>
          <a:p>
            <a:pPr marL="0" indent="0">
              <a:buNone/>
            </a:pPr>
            <a:r>
              <a:rPr lang="en-US" sz="940" dirty="0">
                <a:solidFill>
                  <a:srgbClr val="617481"/>
                </a:solidFill>
                <a:latin typeface="Aptos" pitchFamily="34" charset="0"/>
                <a:ea typeface="Aptos" pitchFamily="34" charset="-122"/>
                <a:cs typeface="Aptos" pitchFamily="34" charset="-120"/>
              </a:rPr>
              <a:t>CDE confirmation</a:t>
            </a:r>
            <a:endParaRPr lang="en-US" sz="940" dirty="0"/>
          </a:p>
          <a:p>
            <a:pPr marL="0" indent="0">
              <a:buNone/>
            </a:pPr>
            <a:r>
              <a:rPr lang="en-US" sz="940" dirty="0">
                <a:solidFill>
                  <a:srgbClr val="617481"/>
                </a:solidFill>
                <a:latin typeface="Aptos" pitchFamily="34" charset="0"/>
                <a:ea typeface="Aptos" pitchFamily="34" charset="-122"/>
                <a:cs typeface="Aptos" pitchFamily="34" charset="-120"/>
              </a:rPr>
              <a:t>Report-use approval</a:t>
            </a:r>
            <a:endParaRPr lang="en-US" sz="940" dirty="0"/>
          </a:p>
          <a:p>
            <a:pPr marL="0" indent="0">
              <a:buNone/>
            </a:pPr>
            <a:r>
              <a:rPr lang="en-US" sz="940" dirty="0">
                <a:solidFill>
                  <a:srgbClr val="617481"/>
                </a:solidFill>
                <a:latin typeface="Aptos" pitchFamily="34" charset="0"/>
                <a:ea typeface="Aptos" pitchFamily="34" charset="-122"/>
                <a:cs typeface="Aptos" pitchFamily="34" charset="-120"/>
              </a:rPr>
              <a:t>Issue escalation</a:t>
            </a:r>
            <a:endParaRPr lang="en-US" sz="940" dirty="0"/>
          </a:p>
        </p:txBody>
      </p:sp>
      <p:sp>
        <p:nvSpPr>
          <p:cNvPr id="11" name="Shape 9"/>
          <p:cNvSpPr/>
          <p:nvPr/>
        </p:nvSpPr>
        <p:spPr>
          <a:xfrm>
            <a:off x="3355848" y="1737360"/>
            <a:ext cx="2514600" cy="1627632"/>
          </a:xfrm>
          <a:prstGeom prst="roundRect">
            <a:avLst>
              <a:gd name="adj" fmla="val 4494"/>
            </a:avLst>
          </a:prstGeom>
          <a:solidFill>
            <a:srgbClr val="FFFFFF"/>
          </a:solidFill>
          <a:ln w="10160">
            <a:solidFill>
              <a:srgbClr val="D8E4EA"/>
            </a:solidFill>
            <a:prstDash val="solid"/>
          </a:ln>
          <a:effectLst>
            <a:outerShdw blurRad="16510" dist="7620" dir="2700000" algn="bl" rotWithShape="0">
              <a:srgbClr val="0C2B3A">
                <a:alpha val="12000"/>
              </a:srgbClr>
            </a:outerShdw>
          </a:effectLst>
        </p:spPr>
        <p:txBody>
          <a:bodyPr/>
          <a:lstStyle/>
          <a:p>
            <a:endParaRPr lang="en-US"/>
          </a:p>
        </p:txBody>
      </p:sp>
      <p:sp>
        <p:nvSpPr>
          <p:cNvPr id="12" name="Text 10"/>
          <p:cNvSpPr/>
          <p:nvPr/>
        </p:nvSpPr>
        <p:spPr>
          <a:xfrm>
            <a:off x="3520440" y="1956816"/>
            <a:ext cx="2194560" cy="237744"/>
          </a:xfrm>
          <a:prstGeom prst="rect">
            <a:avLst/>
          </a:prstGeom>
          <a:noFill/>
          <a:ln/>
        </p:spPr>
        <p:txBody>
          <a:bodyPr wrap="square" lIns="0" tIns="0" rIns="0" bIns="0" rtlCol="0" anchor="ctr">
            <a:normAutofit/>
          </a:bodyPr>
          <a:lstStyle/>
          <a:p>
            <a:pPr marL="0" indent="0">
              <a:buNone/>
            </a:pPr>
            <a:r>
              <a:rPr lang="en-US" sz="1260" b="1" dirty="0">
                <a:solidFill>
                  <a:srgbClr val="0C2B3A"/>
                </a:solidFill>
                <a:latin typeface="Aptos" pitchFamily="34" charset="0"/>
                <a:ea typeface="Aptos" pitchFamily="34" charset="-122"/>
                <a:cs typeface="Aptos" pitchFamily="34" charset="-120"/>
              </a:rPr>
              <a:t>Data Producer / source owner</a:t>
            </a:r>
            <a:endParaRPr lang="en-US" sz="1260" dirty="0"/>
          </a:p>
        </p:txBody>
      </p:sp>
      <p:sp>
        <p:nvSpPr>
          <p:cNvPr id="13" name="Text 11"/>
          <p:cNvSpPr/>
          <p:nvPr/>
        </p:nvSpPr>
        <p:spPr>
          <a:xfrm>
            <a:off x="3520440" y="2340864"/>
            <a:ext cx="2148840" cy="658368"/>
          </a:xfrm>
          <a:prstGeom prst="rect">
            <a:avLst/>
          </a:prstGeom>
          <a:noFill/>
          <a:ln/>
        </p:spPr>
        <p:txBody>
          <a:bodyPr wrap="square" lIns="0" tIns="0" rIns="0" bIns="0" rtlCol="0" anchor="t">
            <a:normAutofit/>
          </a:bodyPr>
          <a:lstStyle/>
          <a:p>
            <a:pPr marL="0" indent="0">
              <a:buNone/>
            </a:pPr>
            <a:r>
              <a:rPr lang="en-US" sz="940" dirty="0">
                <a:solidFill>
                  <a:srgbClr val="617481"/>
                </a:solidFill>
                <a:latin typeface="Aptos" pitchFamily="34" charset="0"/>
                <a:ea typeface="Aptos" pitchFamily="34" charset="-122"/>
                <a:cs typeface="Aptos" pitchFamily="34" charset="-120"/>
              </a:rPr>
              <a:t>Source metadata</a:t>
            </a:r>
            <a:endParaRPr lang="en-US" sz="940" dirty="0"/>
          </a:p>
          <a:p>
            <a:pPr marL="0" indent="0">
              <a:buNone/>
            </a:pPr>
            <a:r>
              <a:rPr lang="en-US" sz="940" dirty="0">
                <a:solidFill>
                  <a:srgbClr val="617481"/>
                </a:solidFill>
                <a:latin typeface="Aptos" pitchFamily="34" charset="0"/>
                <a:ea typeface="Aptos" pitchFamily="34" charset="-122"/>
                <a:cs typeface="Aptos" pitchFamily="34" charset="-120"/>
              </a:rPr>
              <a:t>Technical lineage</a:t>
            </a:r>
            <a:endParaRPr lang="en-US" sz="940" dirty="0"/>
          </a:p>
          <a:p>
            <a:pPr marL="0" indent="0">
              <a:buNone/>
            </a:pPr>
            <a:r>
              <a:rPr lang="en-US" sz="940" dirty="0">
                <a:solidFill>
                  <a:srgbClr val="617481"/>
                </a:solidFill>
                <a:latin typeface="Aptos" pitchFamily="34" charset="0"/>
                <a:ea typeface="Aptos" pitchFamily="34" charset="-122"/>
                <a:cs typeface="Aptos" pitchFamily="34" charset="-120"/>
              </a:rPr>
              <a:t>DQ controls</a:t>
            </a:r>
            <a:endParaRPr lang="en-US" sz="940" dirty="0"/>
          </a:p>
          <a:p>
            <a:pPr marL="0" indent="0">
              <a:buNone/>
            </a:pPr>
            <a:r>
              <a:rPr lang="en-US" sz="940" dirty="0">
                <a:solidFill>
                  <a:srgbClr val="617481"/>
                </a:solidFill>
                <a:latin typeface="Aptos" pitchFamily="34" charset="0"/>
                <a:ea typeface="Aptos" pitchFamily="34" charset="-122"/>
                <a:cs typeface="Aptos" pitchFamily="34" charset="-120"/>
              </a:rPr>
              <a:t>Change impact</a:t>
            </a:r>
            <a:endParaRPr lang="en-US" sz="940" dirty="0"/>
          </a:p>
        </p:txBody>
      </p:sp>
      <p:sp>
        <p:nvSpPr>
          <p:cNvPr id="14" name="Shape 12"/>
          <p:cNvSpPr/>
          <p:nvPr/>
        </p:nvSpPr>
        <p:spPr>
          <a:xfrm>
            <a:off x="6208776" y="1737360"/>
            <a:ext cx="2514600" cy="1627632"/>
          </a:xfrm>
          <a:prstGeom prst="roundRect">
            <a:avLst>
              <a:gd name="adj" fmla="val 4494"/>
            </a:avLst>
          </a:prstGeom>
          <a:solidFill>
            <a:srgbClr val="FFFFFF"/>
          </a:solidFill>
          <a:ln w="10160">
            <a:solidFill>
              <a:srgbClr val="D8E4EA"/>
            </a:solidFill>
            <a:prstDash val="solid"/>
          </a:ln>
          <a:effectLst>
            <a:outerShdw blurRad="16510" dist="7620" dir="2700000" algn="bl" rotWithShape="0">
              <a:srgbClr val="0C2B3A">
                <a:alpha val="12000"/>
              </a:srgbClr>
            </a:outerShdw>
          </a:effectLst>
        </p:spPr>
        <p:txBody>
          <a:bodyPr/>
          <a:lstStyle/>
          <a:p>
            <a:endParaRPr lang="en-US"/>
          </a:p>
        </p:txBody>
      </p:sp>
      <p:sp>
        <p:nvSpPr>
          <p:cNvPr id="15" name="Text 13"/>
          <p:cNvSpPr/>
          <p:nvPr/>
        </p:nvSpPr>
        <p:spPr>
          <a:xfrm>
            <a:off x="6373368" y="1956816"/>
            <a:ext cx="2194560" cy="237744"/>
          </a:xfrm>
          <a:prstGeom prst="rect">
            <a:avLst/>
          </a:prstGeom>
          <a:noFill/>
          <a:ln/>
        </p:spPr>
        <p:txBody>
          <a:bodyPr wrap="square" lIns="0" tIns="0" rIns="0" bIns="0" rtlCol="0" anchor="ctr">
            <a:normAutofit/>
          </a:bodyPr>
          <a:lstStyle/>
          <a:p>
            <a:pPr marL="0" indent="0">
              <a:buNone/>
            </a:pPr>
            <a:r>
              <a:rPr lang="en-US" sz="1260" b="1" dirty="0">
                <a:solidFill>
                  <a:srgbClr val="0C2B3A"/>
                </a:solidFill>
                <a:latin typeface="Aptos" pitchFamily="34" charset="0"/>
                <a:ea typeface="Aptos" pitchFamily="34" charset="-122"/>
                <a:cs typeface="Aptos" pitchFamily="34" charset="-120"/>
              </a:rPr>
              <a:t>Governance / Risk</a:t>
            </a:r>
            <a:endParaRPr lang="en-US" sz="1260" dirty="0"/>
          </a:p>
        </p:txBody>
      </p:sp>
      <p:sp>
        <p:nvSpPr>
          <p:cNvPr id="16" name="Text 14"/>
          <p:cNvSpPr/>
          <p:nvPr/>
        </p:nvSpPr>
        <p:spPr>
          <a:xfrm>
            <a:off x="6373368" y="2340864"/>
            <a:ext cx="2148840" cy="658368"/>
          </a:xfrm>
          <a:prstGeom prst="rect">
            <a:avLst/>
          </a:prstGeom>
          <a:noFill/>
          <a:ln/>
        </p:spPr>
        <p:txBody>
          <a:bodyPr wrap="square" lIns="0" tIns="0" rIns="0" bIns="0" rtlCol="0" anchor="t">
            <a:normAutofit/>
          </a:bodyPr>
          <a:lstStyle/>
          <a:p>
            <a:pPr marL="0" indent="0">
              <a:buNone/>
            </a:pPr>
            <a:r>
              <a:rPr lang="en-US" sz="940" dirty="0">
                <a:solidFill>
                  <a:srgbClr val="617481"/>
                </a:solidFill>
                <a:latin typeface="Aptos" pitchFamily="34" charset="0"/>
                <a:ea typeface="Aptos" pitchFamily="34" charset="-122"/>
                <a:cs typeface="Aptos" pitchFamily="34" charset="-120"/>
              </a:rPr>
              <a:t>Standards &amp; scope</a:t>
            </a:r>
            <a:endParaRPr lang="en-US" sz="940" dirty="0"/>
          </a:p>
          <a:p>
            <a:pPr marL="0" indent="0">
              <a:buNone/>
            </a:pPr>
            <a:r>
              <a:rPr lang="en-US" sz="940" dirty="0">
                <a:solidFill>
                  <a:srgbClr val="617481"/>
                </a:solidFill>
                <a:latin typeface="Aptos" pitchFamily="34" charset="0"/>
                <a:ea typeface="Aptos" pitchFamily="34" charset="-122"/>
                <a:cs typeface="Aptos" pitchFamily="34" charset="-120"/>
              </a:rPr>
              <a:t>Completeness monitoring</a:t>
            </a:r>
            <a:endParaRPr lang="en-US" sz="940" dirty="0"/>
          </a:p>
          <a:p>
            <a:pPr marL="0" indent="0">
              <a:buNone/>
            </a:pPr>
            <a:r>
              <a:rPr lang="en-US" sz="940" dirty="0">
                <a:solidFill>
                  <a:srgbClr val="617481"/>
                </a:solidFill>
                <a:latin typeface="Aptos" pitchFamily="34" charset="0"/>
                <a:ea typeface="Aptos" pitchFamily="34" charset="-122"/>
                <a:cs typeface="Aptos" pitchFamily="34" charset="-120"/>
              </a:rPr>
              <a:t>Exception tracking</a:t>
            </a:r>
            <a:endParaRPr lang="en-US" sz="940" dirty="0"/>
          </a:p>
          <a:p>
            <a:pPr marL="0" indent="0">
              <a:buNone/>
            </a:pPr>
            <a:r>
              <a:rPr lang="en-US" sz="940" dirty="0">
                <a:solidFill>
                  <a:srgbClr val="617481"/>
                </a:solidFill>
                <a:latin typeface="Aptos" pitchFamily="34" charset="0"/>
                <a:ea typeface="Aptos" pitchFamily="34" charset="-122"/>
                <a:cs typeface="Aptos" pitchFamily="34" charset="-120"/>
              </a:rPr>
              <a:t>Certification support</a:t>
            </a:r>
            <a:endParaRPr lang="en-US" sz="940" dirty="0"/>
          </a:p>
        </p:txBody>
      </p:sp>
      <p:sp>
        <p:nvSpPr>
          <p:cNvPr id="17" name="Shape 15"/>
          <p:cNvSpPr/>
          <p:nvPr/>
        </p:nvSpPr>
        <p:spPr>
          <a:xfrm>
            <a:off x="9061704" y="1737360"/>
            <a:ext cx="2514600" cy="1627632"/>
          </a:xfrm>
          <a:prstGeom prst="roundRect">
            <a:avLst>
              <a:gd name="adj" fmla="val 4494"/>
            </a:avLst>
          </a:prstGeom>
          <a:solidFill>
            <a:srgbClr val="0C2B3A"/>
          </a:solidFill>
          <a:ln w="10160">
            <a:solidFill>
              <a:srgbClr val="0C2B3A"/>
            </a:solidFill>
            <a:prstDash val="solid"/>
          </a:ln>
          <a:effectLst>
            <a:outerShdw blurRad="16510" dist="7620" dir="2700000" algn="bl" rotWithShape="0">
              <a:srgbClr val="0C2B3A">
                <a:alpha val="12000"/>
              </a:srgbClr>
            </a:outerShdw>
          </a:effectLst>
        </p:spPr>
        <p:txBody>
          <a:bodyPr/>
          <a:lstStyle/>
          <a:p>
            <a:endParaRPr lang="en-US"/>
          </a:p>
        </p:txBody>
      </p:sp>
      <p:sp>
        <p:nvSpPr>
          <p:cNvPr id="18" name="Text 16"/>
          <p:cNvSpPr/>
          <p:nvPr/>
        </p:nvSpPr>
        <p:spPr>
          <a:xfrm>
            <a:off x="9226296" y="1956816"/>
            <a:ext cx="2194560" cy="237744"/>
          </a:xfrm>
          <a:prstGeom prst="rect">
            <a:avLst/>
          </a:prstGeom>
          <a:noFill/>
          <a:ln/>
        </p:spPr>
        <p:txBody>
          <a:bodyPr wrap="square" lIns="0" tIns="0" rIns="0" bIns="0" rtlCol="0" anchor="ctr">
            <a:normAutofit/>
          </a:bodyPr>
          <a:lstStyle/>
          <a:p>
            <a:pPr marL="0" indent="0">
              <a:buNone/>
            </a:pPr>
            <a:r>
              <a:rPr lang="en-US" sz="1260" b="1" dirty="0">
                <a:solidFill>
                  <a:srgbClr val="FFFFFF"/>
                </a:solidFill>
                <a:latin typeface="Aptos" pitchFamily="34" charset="0"/>
                <a:ea typeface="Aptos" pitchFamily="34" charset="-122"/>
                <a:cs typeface="Aptos" pitchFamily="34" charset="-120"/>
              </a:rPr>
              <a:t>Our delivery team</a:t>
            </a:r>
            <a:endParaRPr lang="en-US" sz="1260" dirty="0"/>
          </a:p>
        </p:txBody>
      </p:sp>
      <p:sp>
        <p:nvSpPr>
          <p:cNvPr id="19" name="Text 17"/>
          <p:cNvSpPr/>
          <p:nvPr/>
        </p:nvSpPr>
        <p:spPr>
          <a:xfrm>
            <a:off x="9226296" y="2340864"/>
            <a:ext cx="2148840" cy="658368"/>
          </a:xfrm>
          <a:prstGeom prst="rect">
            <a:avLst/>
          </a:prstGeom>
          <a:noFill/>
          <a:ln/>
        </p:spPr>
        <p:txBody>
          <a:bodyPr wrap="square" lIns="0" tIns="0" rIns="0" bIns="0" rtlCol="0" anchor="t">
            <a:normAutofit/>
          </a:bodyPr>
          <a:lstStyle/>
          <a:p>
            <a:pPr marL="0" indent="0">
              <a:buNone/>
            </a:pPr>
            <a:r>
              <a:rPr lang="en-US" sz="940" dirty="0">
                <a:solidFill>
                  <a:srgbClr val="D3E3E8"/>
                </a:solidFill>
                <a:latin typeface="Aptos" pitchFamily="34" charset="0"/>
                <a:ea typeface="Aptos" pitchFamily="34" charset="-122"/>
                <a:cs typeface="Aptos" pitchFamily="34" charset="-120"/>
              </a:rPr>
              <a:t>Automation build</a:t>
            </a:r>
            <a:endParaRPr lang="en-US" sz="940" dirty="0"/>
          </a:p>
          <a:p>
            <a:pPr marL="0" indent="0">
              <a:buNone/>
            </a:pPr>
            <a:r>
              <a:rPr lang="en-US" sz="940" dirty="0">
                <a:solidFill>
                  <a:srgbClr val="D3E3E8"/>
                </a:solidFill>
                <a:latin typeface="Aptos" pitchFamily="34" charset="0"/>
                <a:ea typeface="Aptos" pitchFamily="34" charset="-122"/>
                <a:cs typeface="Aptos" pitchFamily="34" charset="-120"/>
              </a:rPr>
              <a:t>Adapters &amp; parsers</a:t>
            </a:r>
            <a:endParaRPr lang="en-US" sz="940" dirty="0"/>
          </a:p>
          <a:p>
            <a:pPr marL="0" indent="0">
              <a:buNone/>
            </a:pPr>
            <a:r>
              <a:rPr lang="en-US" sz="940" dirty="0">
                <a:solidFill>
                  <a:srgbClr val="D3E3E8"/>
                </a:solidFill>
                <a:latin typeface="Aptos" pitchFamily="34" charset="0"/>
                <a:ea typeface="Aptos" pitchFamily="34" charset="-122"/>
                <a:cs typeface="Aptos" pitchFamily="34" charset="-120"/>
              </a:rPr>
              <a:t>Validation pack</a:t>
            </a:r>
            <a:endParaRPr lang="en-US" sz="940" dirty="0"/>
          </a:p>
          <a:p>
            <a:pPr marL="0" indent="0">
              <a:buNone/>
            </a:pPr>
            <a:r>
              <a:rPr lang="en-US" sz="940" dirty="0">
                <a:solidFill>
                  <a:srgbClr val="D3E3E8"/>
                </a:solidFill>
                <a:latin typeface="Aptos" pitchFamily="34" charset="0"/>
                <a:ea typeface="Aptos" pitchFamily="34" charset="-122"/>
                <a:cs typeface="Aptos" pitchFamily="34" charset="-120"/>
              </a:rPr>
              <a:t>Runbooks &amp; transfer</a:t>
            </a:r>
            <a:endParaRPr lang="en-US" sz="940" dirty="0"/>
          </a:p>
        </p:txBody>
      </p:sp>
      <p:sp>
        <p:nvSpPr>
          <p:cNvPr id="20" name="Text 18"/>
          <p:cNvSpPr/>
          <p:nvPr/>
        </p:nvSpPr>
        <p:spPr>
          <a:xfrm>
            <a:off x="502920" y="3712464"/>
            <a:ext cx="5303520" cy="182880"/>
          </a:xfrm>
          <a:prstGeom prst="rect">
            <a:avLst/>
          </a:prstGeom>
          <a:noFill/>
          <a:ln/>
        </p:spPr>
        <p:txBody>
          <a:bodyPr wrap="square" lIns="0" tIns="0" rIns="0" bIns="0" rtlCol="0" anchor="ctr">
            <a:normAutofit/>
          </a:bodyPr>
          <a:lstStyle/>
          <a:p>
            <a:pPr marL="0" indent="0">
              <a:buNone/>
            </a:pPr>
            <a:r>
              <a:rPr lang="en-US" sz="870" b="1" kern="0" spc="170" dirty="0">
                <a:solidFill>
                  <a:srgbClr val="0E8F8A"/>
                </a:solidFill>
                <a:latin typeface="Aptos" pitchFamily="34" charset="0"/>
                <a:ea typeface="Aptos" pitchFamily="34" charset="-122"/>
                <a:cs typeface="Aptos" pitchFamily="34" charset="-120"/>
              </a:rPr>
              <a:t>DEFINITION OF DONE FOR EACH CRITICAL DATA ELEMENT</a:t>
            </a:r>
            <a:endParaRPr lang="en-US" sz="870" dirty="0"/>
          </a:p>
        </p:txBody>
      </p:sp>
      <p:sp>
        <p:nvSpPr>
          <p:cNvPr id="21" name="Shape 19"/>
          <p:cNvSpPr/>
          <p:nvPr/>
        </p:nvSpPr>
        <p:spPr>
          <a:xfrm>
            <a:off x="502920" y="4005072"/>
            <a:ext cx="164592" cy="164592"/>
          </a:xfrm>
          <a:prstGeom prst="ellipse">
            <a:avLst/>
          </a:prstGeom>
          <a:solidFill>
            <a:srgbClr val="0E8F8A"/>
          </a:solidFill>
          <a:ln w="12700">
            <a:solidFill>
              <a:srgbClr val="0E8F8A"/>
            </a:solidFill>
            <a:prstDash val="solid"/>
          </a:ln>
        </p:spPr>
        <p:txBody>
          <a:bodyPr/>
          <a:lstStyle/>
          <a:p>
            <a:endParaRPr lang="en-US"/>
          </a:p>
        </p:txBody>
      </p:sp>
      <p:sp>
        <p:nvSpPr>
          <p:cNvPr id="22" name="Text 20"/>
          <p:cNvSpPr/>
          <p:nvPr/>
        </p:nvSpPr>
        <p:spPr>
          <a:xfrm>
            <a:off x="758952" y="3986784"/>
            <a:ext cx="3063240" cy="173736"/>
          </a:xfrm>
          <a:prstGeom prst="rect">
            <a:avLst/>
          </a:prstGeom>
          <a:noFill/>
          <a:ln/>
        </p:spPr>
        <p:txBody>
          <a:bodyPr wrap="square" lIns="0" tIns="0" rIns="0" bIns="0" rtlCol="0" anchor="ctr">
            <a:normAutofit/>
          </a:bodyPr>
          <a:lstStyle/>
          <a:p>
            <a:pPr marL="0" indent="0">
              <a:buNone/>
            </a:pPr>
            <a:r>
              <a:rPr lang="en-US" sz="970" dirty="0">
                <a:solidFill>
                  <a:srgbClr val="173342"/>
                </a:solidFill>
                <a:latin typeface="Aptos" pitchFamily="34" charset="0"/>
                <a:ea typeface="Aptos" pitchFamily="34" charset="-122"/>
                <a:cs typeface="Aptos" pitchFamily="34" charset="-120"/>
              </a:rPr>
              <a:t>Business definition approved</a:t>
            </a:r>
            <a:endParaRPr lang="en-US" sz="970" dirty="0"/>
          </a:p>
        </p:txBody>
      </p:sp>
      <p:sp>
        <p:nvSpPr>
          <p:cNvPr id="23" name="Shape 21"/>
          <p:cNvSpPr/>
          <p:nvPr/>
        </p:nvSpPr>
        <p:spPr>
          <a:xfrm>
            <a:off x="3931920" y="4005072"/>
            <a:ext cx="164592" cy="164592"/>
          </a:xfrm>
          <a:prstGeom prst="ellipse">
            <a:avLst/>
          </a:prstGeom>
          <a:solidFill>
            <a:srgbClr val="0E8F8A"/>
          </a:solidFill>
          <a:ln w="12700">
            <a:solidFill>
              <a:srgbClr val="0E8F8A"/>
            </a:solidFill>
            <a:prstDash val="solid"/>
          </a:ln>
        </p:spPr>
        <p:txBody>
          <a:bodyPr/>
          <a:lstStyle/>
          <a:p>
            <a:endParaRPr lang="en-US"/>
          </a:p>
        </p:txBody>
      </p:sp>
      <p:sp>
        <p:nvSpPr>
          <p:cNvPr id="24" name="Text 22"/>
          <p:cNvSpPr/>
          <p:nvPr/>
        </p:nvSpPr>
        <p:spPr>
          <a:xfrm>
            <a:off x="4187952" y="3986784"/>
            <a:ext cx="3063240" cy="173736"/>
          </a:xfrm>
          <a:prstGeom prst="rect">
            <a:avLst/>
          </a:prstGeom>
          <a:noFill/>
          <a:ln/>
        </p:spPr>
        <p:txBody>
          <a:bodyPr wrap="square" lIns="0" tIns="0" rIns="0" bIns="0" rtlCol="0" anchor="ctr">
            <a:normAutofit/>
          </a:bodyPr>
          <a:lstStyle/>
          <a:p>
            <a:pPr marL="0" indent="0">
              <a:buNone/>
            </a:pPr>
            <a:r>
              <a:rPr lang="en-US" sz="970" dirty="0">
                <a:solidFill>
                  <a:srgbClr val="173342"/>
                </a:solidFill>
                <a:latin typeface="Aptos" pitchFamily="34" charset="0"/>
                <a:ea typeface="Aptos" pitchFamily="34" charset="-122"/>
                <a:cs typeface="Aptos" pitchFamily="34" charset="-120"/>
              </a:rPr>
              <a:t>Physical source identified</a:t>
            </a:r>
            <a:endParaRPr lang="en-US" sz="970" dirty="0"/>
          </a:p>
        </p:txBody>
      </p:sp>
      <p:sp>
        <p:nvSpPr>
          <p:cNvPr id="25" name="Shape 23"/>
          <p:cNvSpPr/>
          <p:nvPr/>
        </p:nvSpPr>
        <p:spPr>
          <a:xfrm>
            <a:off x="7360920" y="4005072"/>
            <a:ext cx="164592" cy="164592"/>
          </a:xfrm>
          <a:prstGeom prst="ellipse">
            <a:avLst/>
          </a:prstGeom>
          <a:solidFill>
            <a:srgbClr val="0E8F8A"/>
          </a:solidFill>
          <a:ln w="12700">
            <a:solidFill>
              <a:srgbClr val="0E8F8A"/>
            </a:solidFill>
            <a:prstDash val="solid"/>
          </a:ln>
        </p:spPr>
        <p:txBody>
          <a:bodyPr/>
          <a:lstStyle/>
          <a:p>
            <a:endParaRPr lang="en-US"/>
          </a:p>
        </p:txBody>
      </p:sp>
      <p:sp>
        <p:nvSpPr>
          <p:cNvPr id="26" name="Text 24"/>
          <p:cNvSpPr/>
          <p:nvPr/>
        </p:nvSpPr>
        <p:spPr>
          <a:xfrm>
            <a:off x="7616952" y="3986784"/>
            <a:ext cx="3063240" cy="173736"/>
          </a:xfrm>
          <a:prstGeom prst="rect">
            <a:avLst/>
          </a:prstGeom>
          <a:noFill/>
          <a:ln/>
        </p:spPr>
        <p:txBody>
          <a:bodyPr wrap="square" lIns="0" tIns="0" rIns="0" bIns="0" rtlCol="0" anchor="ctr">
            <a:normAutofit/>
          </a:bodyPr>
          <a:lstStyle/>
          <a:p>
            <a:pPr marL="0" indent="0">
              <a:buNone/>
            </a:pPr>
            <a:r>
              <a:rPr lang="en-US" sz="970" dirty="0">
                <a:solidFill>
                  <a:srgbClr val="173342"/>
                </a:solidFill>
                <a:latin typeface="Aptos" pitchFamily="34" charset="0"/>
                <a:ea typeface="Aptos" pitchFamily="34" charset="-122"/>
                <a:cs typeface="Aptos" pitchFamily="34" charset="-120"/>
              </a:rPr>
              <a:t>Complete table/field lineage published</a:t>
            </a:r>
            <a:endParaRPr lang="en-US" sz="970" dirty="0"/>
          </a:p>
        </p:txBody>
      </p:sp>
      <p:sp>
        <p:nvSpPr>
          <p:cNvPr id="27" name="Shape 25"/>
          <p:cNvSpPr/>
          <p:nvPr/>
        </p:nvSpPr>
        <p:spPr>
          <a:xfrm>
            <a:off x="502920" y="4398264"/>
            <a:ext cx="164592" cy="164592"/>
          </a:xfrm>
          <a:prstGeom prst="ellipse">
            <a:avLst/>
          </a:prstGeom>
          <a:solidFill>
            <a:srgbClr val="0E8F8A"/>
          </a:solidFill>
          <a:ln w="12700">
            <a:solidFill>
              <a:srgbClr val="0E8F8A"/>
            </a:solidFill>
            <a:prstDash val="solid"/>
          </a:ln>
        </p:spPr>
        <p:txBody>
          <a:bodyPr/>
          <a:lstStyle/>
          <a:p>
            <a:endParaRPr lang="en-US"/>
          </a:p>
        </p:txBody>
      </p:sp>
      <p:sp>
        <p:nvSpPr>
          <p:cNvPr id="28" name="Text 26"/>
          <p:cNvSpPr/>
          <p:nvPr/>
        </p:nvSpPr>
        <p:spPr>
          <a:xfrm>
            <a:off x="758952" y="4379976"/>
            <a:ext cx="3063240" cy="173736"/>
          </a:xfrm>
          <a:prstGeom prst="rect">
            <a:avLst/>
          </a:prstGeom>
          <a:noFill/>
          <a:ln/>
        </p:spPr>
        <p:txBody>
          <a:bodyPr wrap="square" lIns="0" tIns="0" rIns="0" bIns="0" rtlCol="0" anchor="ctr">
            <a:normAutofit/>
          </a:bodyPr>
          <a:lstStyle/>
          <a:p>
            <a:pPr marL="0" indent="0">
              <a:buNone/>
            </a:pPr>
            <a:r>
              <a:rPr lang="en-US" sz="970" dirty="0">
                <a:solidFill>
                  <a:srgbClr val="173342"/>
                </a:solidFill>
                <a:latin typeface="Aptos" pitchFamily="34" charset="0"/>
                <a:ea typeface="Aptos" pitchFamily="34" charset="-122"/>
                <a:cs typeface="Aptos" pitchFamily="34" charset="-120"/>
              </a:rPr>
              <a:t>Transformation logic documented</a:t>
            </a:r>
            <a:endParaRPr lang="en-US" sz="970" dirty="0"/>
          </a:p>
        </p:txBody>
      </p:sp>
      <p:sp>
        <p:nvSpPr>
          <p:cNvPr id="29" name="Shape 27"/>
          <p:cNvSpPr/>
          <p:nvPr/>
        </p:nvSpPr>
        <p:spPr>
          <a:xfrm>
            <a:off x="3931920" y="4398264"/>
            <a:ext cx="164592" cy="164592"/>
          </a:xfrm>
          <a:prstGeom prst="ellipse">
            <a:avLst/>
          </a:prstGeom>
          <a:solidFill>
            <a:srgbClr val="0E8F8A"/>
          </a:solidFill>
          <a:ln w="12700">
            <a:solidFill>
              <a:srgbClr val="0E8F8A"/>
            </a:solidFill>
            <a:prstDash val="solid"/>
          </a:ln>
        </p:spPr>
        <p:txBody>
          <a:bodyPr/>
          <a:lstStyle/>
          <a:p>
            <a:endParaRPr lang="en-US"/>
          </a:p>
        </p:txBody>
      </p:sp>
      <p:sp>
        <p:nvSpPr>
          <p:cNvPr id="30" name="Text 28"/>
          <p:cNvSpPr/>
          <p:nvPr/>
        </p:nvSpPr>
        <p:spPr>
          <a:xfrm>
            <a:off x="4187952" y="4379976"/>
            <a:ext cx="3063240" cy="173736"/>
          </a:xfrm>
          <a:prstGeom prst="rect">
            <a:avLst/>
          </a:prstGeom>
          <a:noFill/>
          <a:ln/>
        </p:spPr>
        <p:txBody>
          <a:bodyPr wrap="square" lIns="0" tIns="0" rIns="0" bIns="0" rtlCol="0" anchor="ctr">
            <a:normAutofit/>
          </a:bodyPr>
          <a:lstStyle/>
          <a:p>
            <a:pPr marL="0" indent="0">
              <a:buNone/>
            </a:pPr>
            <a:r>
              <a:rPr lang="en-US" sz="970" dirty="0">
                <a:solidFill>
                  <a:srgbClr val="173342"/>
                </a:solidFill>
                <a:latin typeface="Aptos" pitchFamily="34" charset="0"/>
                <a:ea typeface="Aptos" pitchFamily="34" charset="-122"/>
                <a:cs typeface="Aptos" pitchFamily="34" charset="-120"/>
              </a:rPr>
              <a:t>DQ control linked</a:t>
            </a:r>
            <a:endParaRPr lang="en-US" sz="970" dirty="0"/>
          </a:p>
        </p:txBody>
      </p:sp>
      <p:sp>
        <p:nvSpPr>
          <p:cNvPr id="31" name="Shape 29"/>
          <p:cNvSpPr/>
          <p:nvPr/>
        </p:nvSpPr>
        <p:spPr>
          <a:xfrm>
            <a:off x="7360920" y="4398264"/>
            <a:ext cx="164592" cy="164592"/>
          </a:xfrm>
          <a:prstGeom prst="ellipse">
            <a:avLst/>
          </a:prstGeom>
          <a:solidFill>
            <a:srgbClr val="0E8F8A"/>
          </a:solidFill>
          <a:ln w="12700">
            <a:solidFill>
              <a:srgbClr val="0E8F8A"/>
            </a:solidFill>
            <a:prstDash val="solid"/>
          </a:ln>
        </p:spPr>
        <p:txBody>
          <a:bodyPr/>
          <a:lstStyle/>
          <a:p>
            <a:endParaRPr lang="en-US"/>
          </a:p>
        </p:txBody>
      </p:sp>
      <p:sp>
        <p:nvSpPr>
          <p:cNvPr id="32" name="Text 30"/>
          <p:cNvSpPr/>
          <p:nvPr/>
        </p:nvSpPr>
        <p:spPr>
          <a:xfrm>
            <a:off x="7616952" y="4379976"/>
            <a:ext cx="3063240" cy="173736"/>
          </a:xfrm>
          <a:prstGeom prst="rect">
            <a:avLst/>
          </a:prstGeom>
          <a:noFill/>
          <a:ln/>
        </p:spPr>
        <p:txBody>
          <a:bodyPr wrap="square" lIns="0" tIns="0" rIns="0" bIns="0" rtlCol="0" anchor="ctr">
            <a:normAutofit/>
          </a:bodyPr>
          <a:lstStyle/>
          <a:p>
            <a:pPr marL="0" indent="0">
              <a:buNone/>
            </a:pPr>
            <a:r>
              <a:rPr lang="en-US" sz="970" dirty="0">
                <a:solidFill>
                  <a:srgbClr val="173342"/>
                </a:solidFill>
                <a:latin typeface="Aptos" pitchFamily="34" charset="0"/>
                <a:ea typeface="Aptos" pitchFamily="34" charset="-122"/>
                <a:cs typeface="Aptos" pitchFamily="34" charset="-120"/>
              </a:rPr>
              <a:t>Owner assigned</a:t>
            </a:r>
            <a:endParaRPr lang="en-US" sz="970" dirty="0"/>
          </a:p>
        </p:txBody>
      </p:sp>
      <p:sp>
        <p:nvSpPr>
          <p:cNvPr id="33" name="Shape 31"/>
          <p:cNvSpPr/>
          <p:nvPr/>
        </p:nvSpPr>
        <p:spPr>
          <a:xfrm>
            <a:off x="502920" y="4791456"/>
            <a:ext cx="164592" cy="164592"/>
          </a:xfrm>
          <a:prstGeom prst="ellipse">
            <a:avLst/>
          </a:prstGeom>
          <a:solidFill>
            <a:srgbClr val="0E8F8A"/>
          </a:solidFill>
          <a:ln w="12700">
            <a:solidFill>
              <a:srgbClr val="0E8F8A"/>
            </a:solidFill>
            <a:prstDash val="solid"/>
          </a:ln>
        </p:spPr>
        <p:txBody>
          <a:bodyPr/>
          <a:lstStyle/>
          <a:p>
            <a:endParaRPr lang="en-US"/>
          </a:p>
        </p:txBody>
      </p:sp>
      <p:sp>
        <p:nvSpPr>
          <p:cNvPr id="34" name="Text 32"/>
          <p:cNvSpPr/>
          <p:nvPr/>
        </p:nvSpPr>
        <p:spPr>
          <a:xfrm>
            <a:off x="758952" y="4773168"/>
            <a:ext cx="3063240" cy="173736"/>
          </a:xfrm>
          <a:prstGeom prst="rect">
            <a:avLst/>
          </a:prstGeom>
          <a:noFill/>
          <a:ln/>
        </p:spPr>
        <p:txBody>
          <a:bodyPr wrap="square" lIns="0" tIns="0" rIns="0" bIns="0" rtlCol="0" anchor="ctr">
            <a:normAutofit/>
          </a:bodyPr>
          <a:lstStyle/>
          <a:p>
            <a:pPr marL="0" indent="0">
              <a:buNone/>
            </a:pPr>
            <a:r>
              <a:rPr lang="en-US" sz="970" dirty="0">
                <a:solidFill>
                  <a:srgbClr val="173342"/>
                </a:solidFill>
                <a:latin typeface="Aptos" pitchFamily="34" charset="0"/>
                <a:ea typeface="Aptos" pitchFamily="34" charset="-122"/>
                <a:cs typeface="Aptos" pitchFamily="34" charset="-120"/>
              </a:rPr>
              <a:t>Reconciliation/evidence retained</a:t>
            </a:r>
            <a:endParaRPr lang="en-US" sz="970" dirty="0"/>
          </a:p>
        </p:txBody>
      </p:sp>
      <p:sp>
        <p:nvSpPr>
          <p:cNvPr id="35" name="Shape 33"/>
          <p:cNvSpPr/>
          <p:nvPr/>
        </p:nvSpPr>
        <p:spPr>
          <a:xfrm>
            <a:off x="3931920" y="4791456"/>
            <a:ext cx="164592" cy="164592"/>
          </a:xfrm>
          <a:prstGeom prst="ellipse">
            <a:avLst/>
          </a:prstGeom>
          <a:solidFill>
            <a:srgbClr val="0E8F8A"/>
          </a:solidFill>
          <a:ln w="12700">
            <a:solidFill>
              <a:srgbClr val="0E8F8A"/>
            </a:solidFill>
            <a:prstDash val="solid"/>
          </a:ln>
        </p:spPr>
        <p:txBody>
          <a:bodyPr/>
          <a:lstStyle/>
          <a:p>
            <a:endParaRPr lang="en-US"/>
          </a:p>
        </p:txBody>
      </p:sp>
      <p:sp>
        <p:nvSpPr>
          <p:cNvPr id="36" name="Text 34"/>
          <p:cNvSpPr/>
          <p:nvPr/>
        </p:nvSpPr>
        <p:spPr>
          <a:xfrm>
            <a:off x="4187952" y="4773168"/>
            <a:ext cx="3063240" cy="173736"/>
          </a:xfrm>
          <a:prstGeom prst="rect">
            <a:avLst/>
          </a:prstGeom>
          <a:noFill/>
          <a:ln/>
        </p:spPr>
        <p:txBody>
          <a:bodyPr wrap="square" lIns="0" tIns="0" rIns="0" bIns="0" rtlCol="0" anchor="ctr">
            <a:normAutofit/>
          </a:bodyPr>
          <a:lstStyle/>
          <a:p>
            <a:pPr marL="0" indent="0">
              <a:buNone/>
            </a:pPr>
            <a:r>
              <a:rPr lang="en-US" sz="970" dirty="0">
                <a:solidFill>
                  <a:srgbClr val="173342"/>
                </a:solidFill>
                <a:latin typeface="Aptos" pitchFamily="34" charset="0"/>
                <a:ea typeface="Aptos" pitchFamily="34" charset="-122"/>
                <a:cs typeface="Aptos" pitchFamily="34" charset="-120"/>
              </a:rPr>
              <a:t>Change-impact path available</a:t>
            </a:r>
            <a:endParaRPr lang="en-US" sz="970" dirty="0"/>
          </a:p>
        </p:txBody>
      </p:sp>
      <p:sp>
        <p:nvSpPr>
          <p:cNvPr id="37" name="Shape 35"/>
          <p:cNvSpPr/>
          <p:nvPr/>
        </p:nvSpPr>
        <p:spPr>
          <a:xfrm>
            <a:off x="7360920" y="4791456"/>
            <a:ext cx="164592" cy="164592"/>
          </a:xfrm>
          <a:prstGeom prst="ellipse">
            <a:avLst/>
          </a:prstGeom>
          <a:solidFill>
            <a:srgbClr val="0E8F8A"/>
          </a:solidFill>
          <a:ln w="12700">
            <a:solidFill>
              <a:srgbClr val="0E8F8A"/>
            </a:solidFill>
            <a:prstDash val="solid"/>
          </a:ln>
        </p:spPr>
        <p:txBody>
          <a:bodyPr/>
          <a:lstStyle/>
          <a:p>
            <a:endParaRPr lang="en-US"/>
          </a:p>
        </p:txBody>
      </p:sp>
      <p:sp>
        <p:nvSpPr>
          <p:cNvPr id="38" name="Text 36"/>
          <p:cNvSpPr/>
          <p:nvPr/>
        </p:nvSpPr>
        <p:spPr>
          <a:xfrm>
            <a:off x="7616952" y="4773168"/>
            <a:ext cx="3063240" cy="173736"/>
          </a:xfrm>
          <a:prstGeom prst="rect">
            <a:avLst/>
          </a:prstGeom>
          <a:noFill/>
          <a:ln/>
        </p:spPr>
        <p:txBody>
          <a:bodyPr wrap="square" lIns="0" tIns="0" rIns="0" bIns="0" rtlCol="0" anchor="ctr">
            <a:normAutofit/>
          </a:bodyPr>
          <a:lstStyle/>
          <a:p>
            <a:pPr marL="0" indent="0">
              <a:buNone/>
            </a:pPr>
            <a:r>
              <a:rPr lang="en-US" sz="970" dirty="0">
                <a:solidFill>
                  <a:srgbClr val="173342"/>
                </a:solidFill>
                <a:latin typeface="Aptos" pitchFamily="34" charset="0"/>
                <a:ea typeface="Aptos" pitchFamily="34" charset="-122"/>
                <a:cs typeface="Aptos" pitchFamily="34" charset="-120"/>
              </a:rPr>
              <a:t>Open gaps explicitly recorded</a:t>
            </a:r>
            <a:endParaRPr lang="en-US" sz="970" dirty="0"/>
          </a:p>
        </p:txBody>
      </p:sp>
      <p:sp>
        <p:nvSpPr>
          <p:cNvPr id="39" name="Shape 37"/>
          <p:cNvSpPr/>
          <p:nvPr/>
        </p:nvSpPr>
        <p:spPr>
          <a:xfrm>
            <a:off x="502920" y="5358384"/>
            <a:ext cx="5413248" cy="749808"/>
          </a:xfrm>
          <a:prstGeom prst="roundRect">
            <a:avLst>
              <a:gd name="adj" fmla="val 9756"/>
            </a:avLst>
          </a:prstGeom>
          <a:solidFill>
            <a:srgbClr val="E7F6F2"/>
          </a:solidFill>
          <a:ln w="10160">
            <a:solidFill>
              <a:srgbClr val="BFE4DA"/>
            </a:solidFill>
            <a:prstDash val="solid"/>
          </a:ln>
        </p:spPr>
        <p:txBody>
          <a:bodyPr/>
          <a:lstStyle/>
          <a:p>
            <a:endParaRPr lang="en-US"/>
          </a:p>
        </p:txBody>
      </p:sp>
      <p:sp>
        <p:nvSpPr>
          <p:cNvPr id="40" name="Text 38"/>
          <p:cNvSpPr/>
          <p:nvPr/>
        </p:nvSpPr>
        <p:spPr>
          <a:xfrm>
            <a:off x="713232" y="5477256"/>
            <a:ext cx="4892040" cy="164592"/>
          </a:xfrm>
          <a:prstGeom prst="rect">
            <a:avLst/>
          </a:prstGeom>
          <a:noFill/>
          <a:ln/>
        </p:spPr>
        <p:txBody>
          <a:bodyPr wrap="square" lIns="0" tIns="0" rIns="0" bIns="0" rtlCol="0" anchor="ctr">
            <a:normAutofit/>
          </a:bodyPr>
          <a:lstStyle/>
          <a:p>
            <a:pPr marL="0" indent="0">
              <a:buNone/>
            </a:pPr>
            <a:r>
              <a:rPr lang="en-US" sz="1150" b="1" dirty="0">
                <a:solidFill>
                  <a:srgbClr val="0C2B3A"/>
                </a:solidFill>
                <a:latin typeface="Aptos" pitchFamily="34" charset="0"/>
                <a:ea typeface="Aptos" pitchFamily="34" charset="-122"/>
                <a:cs typeface="Aptos" pitchFamily="34" charset="-120"/>
              </a:rPr>
              <a:t>Connector roadmap in waves</a:t>
            </a:r>
            <a:endParaRPr lang="en-US" sz="1150" dirty="0"/>
          </a:p>
        </p:txBody>
      </p:sp>
      <p:sp>
        <p:nvSpPr>
          <p:cNvPr id="41" name="Text 39"/>
          <p:cNvSpPr/>
          <p:nvPr/>
        </p:nvSpPr>
        <p:spPr>
          <a:xfrm>
            <a:off x="713232" y="5769864"/>
            <a:ext cx="4892040" cy="164592"/>
          </a:xfrm>
          <a:prstGeom prst="rect">
            <a:avLst/>
          </a:prstGeom>
          <a:noFill/>
          <a:ln/>
        </p:spPr>
        <p:txBody>
          <a:bodyPr wrap="square" lIns="0" tIns="0" rIns="0" bIns="0" rtlCol="0" anchor="ctr">
            <a:normAutofit/>
          </a:bodyPr>
          <a:lstStyle/>
          <a:p>
            <a:pPr marL="0" indent="0">
              <a:buNone/>
            </a:pPr>
            <a:r>
              <a:rPr lang="en-US" sz="860" dirty="0">
                <a:solidFill>
                  <a:srgbClr val="617481"/>
                </a:solidFill>
                <a:latin typeface="Aptos" pitchFamily="34" charset="0"/>
                <a:ea typeface="Aptos" pitchFamily="34" charset="-122"/>
                <a:cs typeface="Aptos" pitchFamily="34" charset="-120"/>
              </a:rPr>
              <a:t>Wave 1: native SQL/metadata • Wave 2: ETL/data platforms • Wave 3: legacy/proprietary</a:t>
            </a:r>
            <a:endParaRPr lang="en-US" sz="860" dirty="0"/>
          </a:p>
        </p:txBody>
      </p:sp>
      <p:sp>
        <p:nvSpPr>
          <p:cNvPr id="42" name="Shape 40"/>
          <p:cNvSpPr/>
          <p:nvPr/>
        </p:nvSpPr>
        <p:spPr>
          <a:xfrm>
            <a:off x="6172200" y="5358384"/>
            <a:ext cx="5532120" cy="749808"/>
          </a:xfrm>
          <a:prstGeom prst="roundRect">
            <a:avLst>
              <a:gd name="adj" fmla="val 9756"/>
            </a:avLst>
          </a:prstGeom>
          <a:solidFill>
            <a:srgbClr val="FFFFFF"/>
          </a:solidFill>
          <a:ln w="10160">
            <a:solidFill>
              <a:srgbClr val="D8E4EA"/>
            </a:solidFill>
            <a:prstDash val="solid"/>
          </a:ln>
        </p:spPr>
        <p:txBody>
          <a:bodyPr/>
          <a:lstStyle/>
          <a:p>
            <a:endParaRPr lang="en-US"/>
          </a:p>
        </p:txBody>
      </p:sp>
      <p:sp>
        <p:nvSpPr>
          <p:cNvPr id="43" name="Text 41"/>
          <p:cNvSpPr/>
          <p:nvPr/>
        </p:nvSpPr>
        <p:spPr>
          <a:xfrm>
            <a:off x="6382512" y="5477256"/>
            <a:ext cx="4983480" cy="164592"/>
          </a:xfrm>
          <a:prstGeom prst="rect">
            <a:avLst/>
          </a:prstGeom>
          <a:noFill/>
          <a:ln/>
        </p:spPr>
        <p:txBody>
          <a:bodyPr wrap="square" lIns="0" tIns="0" rIns="0" bIns="0" rtlCol="0" anchor="ctr">
            <a:normAutofit/>
          </a:bodyPr>
          <a:lstStyle/>
          <a:p>
            <a:pPr marL="0" indent="0">
              <a:buNone/>
            </a:pPr>
            <a:r>
              <a:rPr lang="en-US" sz="1150" b="1" dirty="0">
                <a:solidFill>
                  <a:srgbClr val="0C2B3A"/>
                </a:solidFill>
                <a:latin typeface="Aptos" pitchFamily="34" charset="0"/>
                <a:ea typeface="Aptos" pitchFamily="34" charset="-122"/>
                <a:cs typeface="Aptos" pitchFamily="34" charset="-120"/>
              </a:rPr>
              <a:t>What the client keeps</a:t>
            </a:r>
            <a:endParaRPr lang="en-US" sz="1150" dirty="0"/>
          </a:p>
        </p:txBody>
      </p:sp>
      <p:sp>
        <p:nvSpPr>
          <p:cNvPr id="44" name="Text 42"/>
          <p:cNvSpPr/>
          <p:nvPr/>
        </p:nvSpPr>
        <p:spPr>
          <a:xfrm>
            <a:off x="6382512" y="5769864"/>
            <a:ext cx="4983480" cy="164592"/>
          </a:xfrm>
          <a:prstGeom prst="rect">
            <a:avLst/>
          </a:prstGeom>
          <a:noFill/>
          <a:ln/>
        </p:spPr>
        <p:txBody>
          <a:bodyPr wrap="square" lIns="0" tIns="0" rIns="0" bIns="0" rtlCol="0" anchor="ctr">
            <a:normAutofit/>
          </a:bodyPr>
          <a:lstStyle/>
          <a:p>
            <a:pPr marL="0" indent="0">
              <a:buNone/>
            </a:pPr>
            <a:r>
              <a:rPr lang="en-US" sz="860" dirty="0">
                <a:solidFill>
                  <a:srgbClr val="617481"/>
                </a:solidFill>
                <a:latin typeface="Aptos" pitchFamily="34" charset="0"/>
                <a:ea typeface="Aptos" pitchFamily="34" charset="-122"/>
                <a:cs typeface="Aptos" pitchFamily="34" charset="-120"/>
              </a:rPr>
              <a:t>Connectors/adapters • approved mappings • evidence pack • validation tests • runbooks • rollout backlog</a:t>
            </a:r>
            <a:endParaRPr lang="en-US" sz="86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1085</Words>
  <Application>Microsoft Macintosh PowerPoint</Application>
  <PresentationFormat>Widescreen</PresentationFormat>
  <Paragraphs>151</Paragraphs>
  <Slides>4</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Aptos</vt:lpstr>
      <vt:lpstr>Aptos Display</vt:lpstr>
      <vt:lpstr>Arial</vt:lpstr>
      <vt:lpstr>Office Theme</vt:lpstr>
      <vt:lpstr>PowerPoint Presentation</vt:lpstr>
      <vt:lpstr>PowerPoint Presentation</vt:lpstr>
      <vt:lpstr>PowerPoint Presentation</vt:lpstr>
      <vt:lpstr>PowerPoint Presentation</vt:lpstr>
    </vt:vector>
  </TitlesOfParts>
  <Company>Essex Lake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BCBS239 Lineage Industrialisation Pitch</dc:title>
  <dc:subject>BCBS239 lineage industrialisation sales proposal</dc:subject>
  <dc:creator>Essex Lake Group</dc:creator>
  <cp:lastModifiedBy>Sahil</cp:lastModifiedBy>
  <cp:revision>2</cp:revision>
  <dcterms:created xsi:type="dcterms:W3CDTF">2026-10-08T04:04:49Z</dcterms:created>
  <dcterms:modified xsi:type="dcterms:W3CDTF">2026-10-08T04:37:40Z</dcterms:modified>
</cp:coreProperties>
</file>